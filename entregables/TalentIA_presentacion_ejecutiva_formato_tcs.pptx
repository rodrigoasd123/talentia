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8a9b9a0d50447be" /><Relationship Type="http://schemas.openxmlformats.org/officeDocument/2006/relationships/extended-properties" Target="/docProps/app.xml" Id="R417bb4777c2a4815" /><Relationship Type="http://schemas.openxmlformats.org/officeDocument/2006/relationships/officeDocument" Target="/ppt/presentation.xml" Id="Rd11cdaac199a401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4f44b44454946e5"/>
  </p:sldMasterIdLst>
  <p:notesMasterIdLst>
    <p:notesMasterId xmlns:r="http://schemas.openxmlformats.org/officeDocument/2006/relationships" r:id="R2b8d01ae5e8b4451"/>
  </p:notesMasterIdLst>
  <p:sldIdLst>
    <p:sldId xmlns:r="http://schemas.openxmlformats.org/officeDocument/2006/relationships" id="256" r:id="Rf9ab6cb36b754b33"/>
    <p:sldId xmlns:r="http://schemas.openxmlformats.org/officeDocument/2006/relationships" id="257" r:id="R80c33eb48b864884"/>
    <p:sldId xmlns:r="http://schemas.openxmlformats.org/officeDocument/2006/relationships" id="258" r:id="R344b7fa17c914642"/>
    <p:sldId xmlns:r="http://schemas.openxmlformats.org/officeDocument/2006/relationships" id="259" r:id="R8f7e9771c20a4e1f"/>
    <p:sldId xmlns:r="http://schemas.openxmlformats.org/officeDocument/2006/relationships" id="260" r:id="Raf431e029f91470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022dac24b884e0b" /><Relationship Type="http://schemas.openxmlformats.org/officeDocument/2006/relationships/slideMaster" Target="/ppt/slideMasters/slideMaster1.xml" Id="Rf4f44b44454946e5" /><Relationship Type="http://schemas.openxmlformats.org/officeDocument/2006/relationships/notesMaster" Target="/ppt/notesMasters/notesMaster1.xml" Id="R2b8d01ae5e8b4451" /><Relationship Type="http://schemas.openxmlformats.org/officeDocument/2006/relationships/presProps" Target="/ppt/presProps.xml" Id="R0f06902dcaa64c59" /><Relationship Type="http://schemas.openxmlformats.org/officeDocument/2006/relationships/viewProps" Target="/ppt/viewProps.xml" Id="Rb48afded4cee4226" /><Relationship Type="http://schemas.openxmlformats.org/officeDocument/2006/relationships/tableStyles" Target="/ppt/tableStyles.xml" Id="R3c5dc81f94674440" /><Relationship Type="http://schemas.openxmlformats.org/officeDocument/2006/relationships/slide" Target="/ppt/slides/slide1.xml" Id="Rf9ab6cb36b754b33" /><Relationship Type="http://schemas.openxmlformats.org/officeDocument/2006/relationships/slide" Target="/ppt/slides/slide2.xml" Id="R80c33eb48b864884" /><Relationship Type="http://schemas.openxmlformats.org/officeDocument/2006/relationships/slide" Target="/ppt/slides/slide3.xml" Id="R344b7fa17c914642" /><Relationship Type="http://schemas.openxmlformats.org/officeDocument/2006/relationships/slide" Target="/ppt/slides/slide4.xml" Id="R8f7e9771c20a4e1f" /><Relationship Type="http://schemas.openxmlformats.org/officeDocument/2006/relationships/slide" Target="/ppt/slides/slide5.xml" Id="Raf431e029f91470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b34f6203df1424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b6225298c31435e" /><Relationship Type="http://schemas.openxmlformats.org/officeDocument/2006/relationships/notesMaster" Target="/ppt/notesMasters/notesMaster1.xml" Id="Rad089c3852bc4ca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990f1d6f0904b45" /><Relationship Type="http://schemas.openxmlformats.org/officeDocument/2006/relationships/notesMaster" Target="/ppt/notesMasters/notesMaster1.xml" Id="R02dcb603cebd493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b06d3dbc8ce44a7" /><Relationship Type="http://schemas.openxmlformats.org/officeDocument/2006/relationships/notesMaster" Target="/ppt/notesMasters/notesMaster1.xml" Id="Rf828f03a58b44a1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285722af2bf4c4a" /><Relationship Type="http://schemas.openxmlformats.org/officeDocument/2006/relationships/notesMaster" Target="/ppt/notesMasters/notesMaster1.xml" Id="R564a548493ff453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96da881719b46a1" /><Relationship Type="http://schemas.openxmlformats.org/officeDocument/2006/relationships/notesMaster" Target="/ppt/notesMasters/notesMaster1.xml" Id="R37b414ef4c7c4a8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 internas: README.md; docs/architecture.md.</a:t>
            </a:r>
          </a:p>
          <a:p xmlns:a="http://schemas.openxmlformats.org/drawingml/2006/main">
            <a:r>
              <a:t>Mensaje clave: TalentIA asiste el proceso de selección, pero no aprueba, rechaza ni contrata automáticamente.</a:t>
            </a:r>
            <a:endParaRPr/>
          </a:p>
          <a:p xmlns:a="http://schemas.openxmlformats.org/drawingml/2006/main">
            <a:r>
              <a:t>La imagen de fondo proviene del archivo de referencia proporcionado por el usuario.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 internas: README.md; docs/architecture.md; PENDIENTES_IMPLEMENTACION_GREENFIELD.md.</a:t>
            </a:r>
          </a:p>
          <a:p xmlns:a="http://schemas.openxmlformats.org/drawingml/2006/main">
            <a:r>
              <a:t>La lámina resume el problema operativo abordado por el piloto y el principio de revisión humana obligatoria.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 internas: README.md; pyproject.toml; docs/architecture.md.</a:t>
            </a:r>
          </a:p>
          <a:p xmlns:a="http://schemas.openxmlformats.org/drawingml/2006/main">
            <a:r>
              <a:t>El equipo puede compilar y ejecutar el piloto con Python. No se requiere Node.js ni Streamlit en la máquina del piloto.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 interna: docs/architecture.md.</a:t>
            </a:r>
          </a:p>
          <a:p xmlns:a="http://schemas.openxmlformats.org/drawingml/2006/main">
            <a:r>
              <a:t>AG-01, AG-04 y AG-05 son determinísticos. AG-02 y AG-03 usan LangGraph con salida estructurada y fallback manual.</a:t>
            </a:r>
            <a:endParaRPr/>
          </a:p>
          <a:p xmlns:a="http://schemas.openxmlformats.org/drawingml/2006/main">
            <a:r>
              <a:t>Toda recomendación termina en revisión humana.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 interna: specs/archive/032-cierre-operabilidad-rubrica/verification.md.</a:t>
            </a:r>
          </a:p>
          <a:p xmlns:a="http://schemas.openxmlformats.org/drawingml/2006/main">
            <a:r>
              <a:t>Resultados verificados: 98 pruebas exitosas; escáner del repositorio sobre 353 archivos; 20 de 20 solicitudes HTTP exitosas.</a:t>
            </a:r>
            <a:endParaRPr/>
          </a:p>
          <a:p xmlns:a="http://schemas.openxmlformats.org/drawingml/2006/main">
            <a:r>
              <a:t>Límites externos aún pendientes: UAT con RR. HH., decisiones de negocio TCS, validación humana del benchmark y prueba de carga representativa.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3ffaa5eb251441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3e0092a74b848c8" /><Relationship Type="http://schemas.openxmlformats.org/officeDocument/2006/relationships/slideLayout" Target="/ppt/slideLayouts/slideLayout1.xml" Id="Rfe0e538d60e3437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e0e538d60e3437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1ffc4e1b704001" /><Relationship Type="http://schemas.openxmlformats.org/officeDocument/2006/relationships/image" Target="/ppt/media/image.png" Id="R8ce7be16c95449f0" /><Relationship Type="http://schemas.openxmlformats.org/officeDocument/2006/relationships/notesSlide" Target="/ppt/notesSlides/notesSlide1.xml" Id="R77f75a1562184e0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9cbe948dd44c62" /><Relationship Type="http://schemas.openxmlformats.org/officeDocument/2006/relationships/notesSlide" Target="/ppt/notesSlides/notesSlide2.xml" Id="R69d2b599ac814f7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7e40d85bb34632" /><Relationship Type="http://schemas.openxmlformats.org/officeDocument/2006/relationships/notesSlide" Target="/ppt/notesSlides/notesSlide3.xml" Id="R50e3cc419157477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4be9be8286482d" /><Relationship Type="http://schemas.openxmlformats.org/officeDocument/2006/relationships/notesSlide" Target="/ppt/notesSlides/notesSlide4.xml" Id="R2033fde85c4348b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8732742ddc4812" /><Relationship Type="http://schemas.openxmlformats.org/officeDocument/2006/relationships/notesSlide" Target="/ppt/notesSlides/notesSlide5.xml" Id="Rfd5829f3cc28463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Imagen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e7be16c95449f0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cover-overlay">
            <a:extLst xmlns:a="http://schemas.openxmlformats.org/drawingml/2006/main">
              <a:ext uri="{FF2B5EF4-FFF2-40B4-BE49-F238E27FC236}">
                <a16:creationId xmlns:a16="http://schemas.microsoft.com/office/drawing/2014/main" id="{3AD4132F-9FC8-42A9-B3DA-3B3F5DF9D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286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7B43BFA5-5491-4349-B599-D1DFB18FA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28675"/>
            <a:ext cx="8763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D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6058C491-0526-4EBD-97F1-30C31A86A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37D5FF"/>
                </a:solidFill>
              </a:defRPr>
            </a:pPr>
            <a:r>
              <a:rPr sz="1200" b="1">
                <a:solidFill>
                  <a:srgbClr val="37D5FF"/>
                </a:solidFill>
              </a:rPr>
              <a:t>RECLUTAMIENTO + IA</a:t>
            </a:r>
          </a:p>
        </p:txBody>
      </p:sp>
      <p:sp>
        <p:nvSpPr>
          <p:cNvPr id="5" name="cover-title">
            <a:extLst xmlns:a="http://schemas.openxmlformats.org/drawingml/2006/main">
              <a:ext uri="{FF2B5EF4-FFF2-40B4-BE49-F238E27FC236}">
                <a16:creationId xmlns:a16="http://schemas.microsoft.com/office/drawing/2014/main" id="{F570D4B4-E362-4DC8-8A86-590CF2938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53340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900" b="1">
                <a:solidFill>
                  <a:srgbClr val="F7FBFF"/>
                </a:solidFill>
              </a:defRPr>
            </a:pPr>
            <a:r>
              <a:rPr sz="3900" b="1">
                <a:solidFill>
                  <a:srgbClr val="F7FBFF"/>
                </a:solidFill>
              </a:rPr>
              <a:t>TalentIA</a:t>
            </a:r>
          </a:p>
          <a:p xmlns:a="http://schemas.openxmlformats.org/drawingml/2006/main">
            <a:pPr algn="l">
              <a:buNone/>
              <a:defRPr sz="3900" b="1">
                <a:solidFill>
                  <a:srgbClr val="F7FBFF"/>
                </a:solidFill>
              </a:defRPr>
            </a:pPr>
            <a:r>
              <a:rPr sz="3900" b="1">
                <a:solidFill>
                  <a:srgbClr val="F7FBFF"/>
                </a:solidFill>
              </a:rPr>
              <a:t>ATS asistido para TCS</a:t>
            </a:r>
          </a:p>
        </p:txBody>
      </p:sp>
      <p:sp>
        <p:nvSpPr>
          <p:cNvPr id="6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BDD08459-D349-4B48-881B-5D7D40B67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90875"/>
            <a:ext cx="476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AFC5DC"/>
                </a:solidFill>
              </a:defRPr>
            </a:pPr>
            <a:r>
              <a:rPr sz="1800" b="0">
                <a:solidFill>
                  <a:srgbClr val="AFC5DC"/>
                </a:solidFill>
              </a:rPr>
              <a:t>Gestión de candidatos con evidencia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AFC5DC"/>
                </a:solidFill>
              </a:defRPr>
            </a:pPr>
            <a:r>
              <a:rPr sz="1800" b="0">
                <a:solidFill>
                  <a:srgbClr val="AFC5DC"/>
                </a:solidFill>
              </a:rPr>
              <a:t>y revisión humana</a:t>
            </a:r>
          </a:p>
        </p:txBody>
      </p:sp>
      <p:sp>
        <p:nvSpPr>
          <p:cNvPr id="7" name="cover-claim">
            <a:extLst xmlns:a="http://schemas.openxmlformats.org/drawingml/2006/main">
              <a:ext uri="{FF2B5EF4-FFF2-40B4-BE49-F238E27FC236}">
                <a16:creationId xmlns:a16="http://schemas.microsoft.com/office/drawing/2014/main" id="{81A18521-3455-4186-88C5-E967F4754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38625"/>
            <a:ext cx="447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7FBFF"/>
                </a:solidFill>
              </a:defRPr>
            </a:pPr>
            <a:r>
              <a:rPr sz="1650" b="1">
                <a:solidFill>
                  <a:srgbClr val="F7FBFF"/>
                </a:solidFill>
              </a:rPr>
              <a:t>Del CV a una evaluación trazable</a:t>
            </a:r>
          </a:p>
          <a:p xmlns:a="http://schemas.openxmlformats.org/drawingml/2006/main">
            <a:pPr algn="l">
              <a:buNone/>
              <a:defRPr sz="1650" b="1">
                <a:solidFill>
                  <a:srgbClr val="F7FBFF"/>
                </a:solidFill>
              </a:defRPr>
            </a:pPr>
            <a:r>
              <a:rPr sz="1650" b="1">
                <a:solidFill>
                  <a:srgbClr val="F7FBFF"/>
                </a:solidFill>
              </a:rPr>
              <a:t>sin decisiones automáticas</a:t>
            </a:r>
          </a:p>
        </p:txBody>
      </p:sp>
      <p:sp>
        <p:nvSpPr>
          <p:cNvPr id="8" name="cover-meta-line">
            <a:extLst xmlns:a="http://schemas.openxmlformats.org/drawingml/2006/main">
              <a:ext uri="{FF2B5EF4-FFF2-40B4-BE49-F238E27FC236}">
                <a16:creationId xmlns:a16="http://schemas.microsoft.com/office/drawing/2014/main" id="{58DF366F-ED35-4C04-B787-1F931D54F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81625"/>
            <a:ext cx="4476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16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EQUIPO TALENTIA</a:t>
            </a:r>
          </a:p>
        </p:txBody>
      </p:sp>
      <p:sp>
        <p:nvSpPr>
          <p:cNvPr id="9" name="cover-team">
            <a:extLst xmlns:a="http://schemas.openxmlformats.org/drawingml/2006/main">
              <a:ext uri="{FF2B5EF4-FFF2-40B4-BE49-F238E27FC236}">
                <a16:creationId xmlns:a16="http://schemas.microsoft.com/office/drawing/2014/main" id="{2B461324-710C-4B89-9EFB-9F05FADD6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72125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AFC5DC"/>
                </a:solidFill>
              </a:defRPr>
            </a:pPr>
            <a:r>
              <a:rPr sz="1050" b="1">
                <a:solidFill>
                  <a:srgbClr val="AFC5DC"/>
                </a:solidFill>
              </a:rPr>
              <a:t>PILOTO PARA RECURSOS HUMANOS</a:t>
            </a:r>
          </a:p>
        </p:txBody>
      </p:sp>
      <p:sp>
        <p:nvSpPr>
          <p:cNvPr id="10" name="cover-date">
            <a:extLst xmlns:a="http://schemas.openxmlformats.org/drawingml/2006/main">
              <a:ext uri="{FF2B5EF4-FFF2-40B4-BE49-F238E27FC236}">
                <a16:creationId xmlns:a16="http://schemas.microsoft.com/office/drawing/2014/main" id="{57D9ED57-009F-4CC8-ACD6-538B44015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AFC5DC"/>
                </a:solidFill>
              </a:defRPr>
            </a:pPr>
            <a:r>
              <a:rPr sz="1050" b="0">
                <a:solidFill>
                  <a:srgbClr val="AFC5DC"/>
                </a:solidFill>
              </a:rPr>
              <a:t>SEPTIEMBRE DE 2026</a:t>
            </a:r>
          </a:p>
        </p:txBody>
      </p:sp>
      <p:sp>
        <p:nvSpPr>
          <p:cNvPr id="11" name="tcs-placeholder">
            <a:extLst xmlns:a="http://schemas.openxmlformats.org/drawingml/2006/main">
              <a:ext uri="{FF2B5EF4-FFF2-40B4-BE49-F238E27FC236}">
                <a16:creationId xmlns:a16="http://schemas.microsoft.com/office/drawing/2014/main" id="{0BCE486B-3C93-4272-85BB-D8A715400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28625"/>
            <a:ext cx="1190625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7D5FF"/>
            </a:solidFill>
            <a:prstDash val="solid"/>
          </a:ln>
        </p:spPr>
      </p:sp>
      <p:sp>
        <p:nvSpPr>
          <p:cNvPr id="12" name="tcs-placeholder-text">
            <a:extLst xmlns:a="http://schemas.openxmlformats.org/drawingml/2006/main">
              <a:ext uri="{FF2B5EF4-FFF2-40B4-BE49-F238E27FC236}">
                <a16:creationId xmlns:a16="http://schemas.microsoft.com/office/drawing/2014/main" id="{AEC7576A-F07A-4F77-81CD-E92D84B6D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571500"/>
            <a:ext cx="9620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B1F33"/>
                </a:solidFill>
              </a:defRPr>
            </a:pPr>
            <a:r>
              <a:rPr sz="1500" b="1">
                <a:solidFill>
                  <a:srgbClr val="0B1F33"/>
                </a:solidFill>
              </a:rPr>
              <a:t>TCS</a:t>
            </a:r>
          </a:p>
        </p:txBody>
      </p:sp>
    </p:spTree>
    <p:extLst>
      <p:ext uri="{BB962C8B-B14F-4D97-AF65-F5344CB8AC3E}">
        <p14:creationId xmlns:p14="http://schemas.microsoft.com/office/powerpoint/2010/main" val="87835771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01 · Problema-kicker">
            <a:extLst xmlns:a="http://schemas.openxmlformats.org/drawingml/2006/main">
              <a:ext uri="{FF2B5EF4-FFF2-40B4-BE49-F238E27FC236}">
                <a16:creationId xmlns:a16="http://schemas.microsoft.com/office/drawing/2014/main" id="{7D353997-8AE2-44C0-BD5C-7260FBED7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3375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68BFF"/>
                </a:solidFill>
              </a:defRPr>
            </a:pPr>
            <a:r>
              <a:rPr sz="1200" b="1">
                <a:solidFill>
                  <a:srgbClr val="168BFF"/>
                </a:solidFill>
              </a:rPr>
              <a:t>01 · PROBLEMA</a:t>
            </a:r>
          </a:p>
        </p:txBody>
      </p:sp>
      <p:sp>
        <p:nvSpPr>
          <p:cNvPr id="2" name="01 · Problema-heading">
            <a:extLst xmlns:a="http://schemas.openxmlformats.org/drawingml/2006/main">
              <a:ext uri="{FF2B5EF4-FFF2-40B4-BE49-F238E27FC236}">
                <a16:creationId xmlns:a16="http://schemas.microsoft.com/office/drawing/2014/main" id="{CAA654C5-3E04-4CBB-BAE2-A76FEAC7E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817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233B"/>
                </a:solidFill>
              </a:defRPr>
            </a:pPr>
            <a:r>
              <a:rPr sz="2850" b="1">
                <a:solidFill>
                  <a:srgbClr val="10233B"/>
                </a:solidFill>
              </a:rPr>
              <a:t>El proceso manual fragmenta datos y dificulta la trazabilidad</a:t>
            </a:r>
          </a:p>
        </p:txBody>
      </p:sp>
      <p:sp>
        <p:nvSpPr>
          <p:cNvPr id="3" name="01 · Problema-rule">
            <a:extLst xmlns:a="http://schemas.openxmlformats.org/drawingml/2006/main">
              <a:ext uri="{FF2B5EF4-FFF2-40B4-BE49-F238E27FC236}">
                <a16:creationId xmlns:a16="http://schemas.microsoft.com/office/drawing/2014/main" id="{72B430A3-9409-478B-B1C7-DF8D85C3B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19200"/>
            <a:ext cx="704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in-arrow-1-shaft">
            <a:extLst xmlns:a="http://schemas.openxmlformats.org/drawingml/2006/main">
              <a:ext uri="{FF2B5EF4-FFF2-40B4-BE49-F238E27FC236}">
                <a16:creationId xmlns:a16="http://schemas.microsoft.com/office/drawing/2014/main" id="{6A830E23-35A9-471F-B4FB-C78492DB9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2124075"/>
            <a:ext cx="457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ain-arrow-1-head">
            <a:extLst xmlns:a="http://schemas.openxmlformats.org/drawingml/2006/main">
              <a:ext uri="{FF2B5EF4-FFF2-40B4-BE49-F238E27FC236}">
                <a16:creationId xmlns:a16="http://schemas.microsoft.com/office/drawing/2014/main" id="{14146E6D-C13D-414E-A736-F2C75423C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047875"/>
            <a:ext cx="171450" cy="1905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C9D8E8"/>
          </a:solidFill>
          <a:ln xmlns:a="http://schemas.openxmlformats.org/drawingml/2006/main" w="0">
            <a:solidFill>
              <a:srgbClr val="C9D8E8"/>
            </a:solidFill>
            <a:prstDash val="solid"/>
          </a:ln>
        </p:spPr>
      </p:sp>
      <p:sp>
        <p:nvSpPr>
          <p:cNvPr id="6" name="pain-arrow-2-shaft">
            <a:extLst xmlns:a="http://schemas.openxmlformats.org/drawingml/2006/main">
              <a:ext uri="{FF2B5EF4-FFF2-40B4-BE49-F238E27FC236}">
                <a16:creationId xmlns:a16="http://schemas.microsoft.com/office/drawing/2014/main" id="{2533F9D1-3A07-4106-B85C-CD0E02CE6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124075"/>
            <a:ext cx="457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pain-arrow-2-head">
            <a:extLst xmlns:a="http://schemas.openxmlformats.org/drawingml/2006/main">
              <a:ext uri="{FF2B5EF4-FFF2-40B4-BE49-F238E27FC236}">
                <a16:creationId xmlns:a16="http://schemas.microsoft.com/office/drawing/2014/main" id="{AACB1B8C-6544-4F5B-B6EF-D59826F61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2047875"/>
            <a:ext cx="171450" cy="1905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C9D8E8"/>
          </a:solidFill>
          <a:ln xmlns:a="http://schemas.openxmlformats.org/drawingml/2006/main" w="0">
            <a:solidFill>
              <a:srgbClr val="C9D8E8"/>
            </a:solidFill>
            <a:prstDash val="solid"/>
          </a:ln>
        </p:spPr>
      </p:sp>
      <p:sp>
        <p:nvSpPr>
          <p:cNvPr id="8" name="pain-arrow-3-shaft">
            <a:extLst xmlns:a="http://schemas.openxmlformats.org/drawingml/2006/main">
              <a:ext uri="{FF2B5EF4-FFF2-40B4-BE49-F238E27FC236}">
                <a16:creationId xmlns:a16="http://schemas.microsoft.com/office/drawing/2014/main" id="{76C83484-727F-4969-824C-A89E9B8D9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2124075"/>
            <a:ext cx="457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pain-arrow-3-head">
            <a:extLst xmlns:a="http://schemas.openxmlformats.org/drawingml/2006/main">
              <a:ext uri="{FF2B5EF4-FFF2-40B4-BE49-F238E27FC236}">
                <a16:creationId xmlns:a16="http://schemas.microsoft.com/office/drawing/2014/main" id="{0AC9AED5-EB3A-48CB-9C7E-983529858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2047875"/>
            <a:ext cx="171450" cy="1905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C9D8E8"/>
          </a:solidFill>
          <a:ln xmlns:a="http://schemas.openxmlformats.org/drawingml/2006/main" w="0">
            <a:solidFill>
              <a:srgbClr val="C9D8E8"/>
            </a:solidFill>
            <a:prstDash val="solid"/>
          </a:ln>
        </p:spPr>
      </p:sp>
      <p:sp>
        <p:nvSpPr>
          <p:cNvPr id="10" name="stage-68">
            <a:extLst xmlns:a="http://schemas.openxmlformats.org/drawingml/2006/main">
              <a:ext uri="{FF2B5EF4-FFF2-40B4-BE49-F238E27FC236}">
                <a16:creationId xmlns:a16="http://schemas.microsoft.com/office/drawing/2014/main" id="{B3D60B2B-9258-40BA-A65D-585662DAA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38300"/>
            <a:ext cx="20955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4F8FC"/>
          </a:solidFill>
          <a:ln xmlns:a="http://schemas.openxmlformats.org/drawingml/2006/main" w="19050">
            <a:solidFill>
              <a:srgbClr val="168BFF"/>
            </a:solidFill>
            <a:prstDash val="solid"/>
          </a:ln>
        </p:spPr>
      </p:sp>
      <p:sp>
        <p:nvSpPr>
          <p:cNvPr id="11" name="stage-line-68">
            <a:extLst xmlns:a="http://schemas.openxmlformats.org/drawingml/2006/main">
              <a:ext uri="{FF2B5EF4-FFF2-40B4-BE49-F238E27FC236}">
                <a16:creationId xmlns:a16="http://schemas.microsoft.com/office/drawing/2014/main" id="{EFA4640D-17C7-40F0-8583-2FA15A09C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38300"/>
            <a:ext cx="2095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tage-head-68">
            <a:extLst xmlns:a="http://schemas.openxmlformats.org/drawingml/2006/main">
              <a:ext uri="{FF2B5EF4-FFF2-40B4-BE49-F238E27FC236}">
                <a16:creationId xmlns:a16="http://schemas.microsoft.com/office/drawing/2014/main" id="{534BE6AA-BC5B-42AA-A378-F087C52FB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38325"/>
            <a:ext cx="1828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0233B"/>
                </a:solidFill>
              </a:defRPr>
            </a:pPr>
            <a:r>
              <a:rPr sz="1425" b="1">
                <a:solidFill>
                  <a:srgbClr val="10233B"/>
                </a:solidFill>
              </a:rPr>
              <a:t>Fuentes dispersas</a:t>
            </a:r>
          </a:p>
        </p:txBody>
      </p:sp>
      <p:sp>
        <p:nvSpPr>
          <p:cNvPr id="13" name="stage-sub-68">
            <a:extLst xmlns:a="http://schemas.openxmlformats.org/drawingml/2006/main">
              <a:ext uri="{FF2B5EF4-FFF2-40B4-BE49-F238E27FC236}">
                <a16:creationId xmlns:a16="http://schemas.microsoft.com/office/drawing/2014/main" id="{6D13E1FA-9640-4ABC-B5B4-58290D840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81225"/>
            <a:ext cx="1752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5B6F87"/>
                </a:solidFill>
              </a:defRPr>
            </a:pPr>
            <a:r>
              <a:rPr sz="1125" b="0">
                <a:solidFill>
                  <a:srgbClr val="5B6F87"/>
                </a:solidFill>
              </a:rPr>
              <a:t>CV, correo y hojas</a:t>
            </a:r>
          </a:p>
        </p:txBody>
      </p:sp>
      <p:sp>
        <p:nvSpPr>
          <p:cNvPr id="14" name="stage-350">
            <a:extLst xmlns:a="http://schemas.openxmlformats.org/drawingml/2006/main">
              <a:ext uri="{FF2B5EF4-FFF2-40B4-BE49-F238E27FC236}">
                <a16:creationId xmlns:a16="http://schemas.microsoft.com/office/drawing/2014/main" id="{EC91E082-01EB-4B5B-A46C-BC4CAC3DB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638300"/>
            <a:ext cx="20955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4F8FC"/>
          </a:solidFill>
          <a:ln xmlns:a="http://schemas.openxmlformats.org/drawingml/2006/main" w="19050">
            <a:solidFill>
              <a:srgbClr val="37D5FF"/>
            </a:solidFill>
            <a:prstDash val="solid"/>
          </a:ln>
        </p:spPr>
      </p:sp>
      <p:sp>
        <p:nvSpPr>
          <p:cNvPr id="15" name="stage-line-350">
            <a:extLst xmlns:a="http://schemas.openxmlformats.org/drawingml/2006/main">
              <a:ext uri="{FF2B5EF4-FFF2-40B4-BE49-F238E27FC236}">
                <a16:creationId xmlns:a16="http://schemas.microsoft.com/office/drawing/2014/main" id="{9D626B1D-EE28-48A8-917A-49886A5A4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638300"/>
            <a:ext cx="2095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D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stage-head-350">
            <a:extLst xmlns:a="http://schemas.openxmlformats.org/drawingml/2006/main">
              <a:ext uri="{FF2B5EF4-FFF2-40B4-BE49-F238E27FC236}">
                <a16:creationId xmlns:a16="http://schemas.microsoft.com/office/drawing/2014/main" id="{8B8DD688-2E11-4269-AFE7-3CA778410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838325"/>
            <a:ext cx="1828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0233B"/>
                </a:solidFill>
              </a:defRPr>
            </a:pPr>
            <a:r>
              <a:rPr sz="1425" b="1">
                <a:solidFill>
                  <a:srgbClr val="10233B"/>
                </a:solidFill>
              </a:rPr>
              <a:t>Duplicados</a:t>
            </a:r>
          </a:p>
        </p:txBody>
      </p:sp>
      <p:sp>
        <p:nvSpPr>
          <p:cNvPr id="17" name="stage-sub-350">
            <a:extLst xmlns:a="http://schemas.openxmlformats.org/drawingml/2006/main">
              <a:ext uri="{FF2B5EF4-FFF2-40B4-BE49-F238E27FC236}">
                <a16:creationId xmlns:a16="http://schemas.microsoft.com/office/drawing/2014/main" id="{F73A4D33-6D26-45A4-BB3B-61CE99FC9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181225"/>
            <a:ext cx="1752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5B6F87"/>
                </a:solidFill>
              </a:defRPr>
            </a:pPr>
            <a:r>
              <a:rPr sz="1125" b="0">
                <a:solidFill>
                  <a:srgbClr val="5B6F87"/>
                </a:solidFill>
              </a:rPr>
              <a:t>Un candidato, varios registros</a:t>
            </a:r>
          </a:p>
        </p:txBody>
      </p:sp>
      <p:sp>
        <p:nvSpPr>
          <p:cNvPr id="18" name="stage-632">
            <a:extLst xmlns:a="http://schemas.openxmlformats.org/drawingml/2006/main">
              <a:ext uri="{FF2B5EF4-FFF2-40B4-BE49-F238E27FC236}">
                <a16:creationId xmlns:a16="http://schemas.microsoft.com/office/drawing/2014/main" id="{C479B476-398F-4F19-8307-6E33E2EC0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638300"/>
            <a:ext cx="20955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4F8FC"/>
          </a:solidFill>
          <a:ln xmlns:a="http://schemas.openxmlformats.org/drawingml/2006/main" w="19050">
            <a:solidFill>
              <a:srgbClr val="FFC857"/>
            </a:solidFill>
            <a:prstDash val="solid"/>
          </a:ln>
        </p:spPr>
      </p:sp>
      <p:sp>
        <p:nvSpPr>
          <p:cNvPr id="19" name="stage-line-632">
            <a:extLst xmlns:a="http://schemas.openxmlformats.org/drawingml/2006/main">
              <a:ext uri="{FF2B5EF4-FFF2-40B4-BE49-F238E27FC236}">
                <a16:creationId xmlns:a16="http://schemas.microsoft.com/office/drawing/2014/main" id="{ADFDB2E9-1398-44EE-9DF1-E8FF378B0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638300"/>
            <a:ext cx="2095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stage-head-632">
            <a:extLst xmlns:a="http://schemas.openxmlformats.org/drawingml/2006/main">
              <a:ext uri="{FF2B5EF4-FFF2-40B4-BE49-F238E27FC236}">
                <a16:creationId xmlns:a16="http://schemas.microsoft.com/office/drawing/2014/main" id="{42E30CF2-56BE-4FAA-8DBA-54A649C9C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838325"/>
            <a:ext cx="1828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0233B"/>
                </a:solidFill>
              </a:defRPr>
            </a:pPr>
            <a:r>
              <a:rPr sz="1425" b="1">
                <a:solidFill>
                  <a:srgbClr val="10233B"/>
                </a:solidFill>
              </a:rPr>
              <a:t>Evaluación manual</a:t>
            </a:r>
          </a:p>
        </p:txBody>
      </p:sp>
      <p:sp>
        <p:nvSpPr>
          <p:cNvPr id="21" name="stage-sub-632">
            <a:extLst xmlns:a="http://schemas.openxmlformats.org/drawingml/2006/main">
              <a:ext uri="{FF2B5EF4-FFF2-40B4-BE49-F238E27FC236}">
                <a16:creationId xmlns:a16="http://schemas.microsoft.com/office/drawing/2014/main" id="{E619738A-81FB-425A-B7E2-27DFBEFD0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81225"/>
            <a:ext cx="1752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5B6F87"/>
                </a:solidFill>
              </a:defRPr>
            </a:pPr>
            <a:r>
              <a:rPr sz="1125" b="0">
                <a:solidFill>
                  <a:srgbClr val="5B6F87"/>
                </a:solidFill>
              </a:rPr>
              <a:t>Evidencia difícil de comparar</a:t>
            </a:r>
          </a:p>
        </p:txBody>
      </p:sp>
      <p:sp>
        <p:nvSpPr>
          <p:cNvPr id="22" name="stage-914">
            <a:extLst xmlns:a="http://schemas.openxmlformats.org/drawingml/2006/main">
              <a:ext uri="{FF2B5EF4-FFF2-40B4-BE49-F238E27FC236}">
                <a16:creationId xmlns:a16="http://schemas.microsoft.com/office/drawing/2014/main" id="{D1142A07-7072-4ED4-BC5D-74350B123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638300"/>
            <a:ext cx="20955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4F8FC"/>
          </a:solidFill>
          <a:ln xmlns:a="http://schemas.openxmlformats.org/drawingml/2006/main" w="19050">
            <a:solidFill>
              <a:srgbClr val="FF6B6B"/>
            </a:solidFill>
            <a:prstDash val="solid"/>
          </a:ln>
        </p:spPr>
      </p:sp>
      <p:sp>
        <p:nvSpPr>
          <p:cNvPr id="23" name="stage-line-914">
            <a:extLst xmlns:a="http://schemas.openxmlformats.org/drawingml/2006/main">
              <a:ext uri="{FF2B5EF4-FFF2-40B4-BE49-F238E27FC236}">
                <a16:creationId xmlns:a16="http://schemas.microsoft.com/office/drawing/2014/main" id="{D6E57EF4-EA4B-453B-812C-1F077A726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638300"/>
            <a:ext cx="2095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stage-head-914">
            <a:extLst xmlns:a="http://schemas.openxmlformats.org/drawingml/2006/main">
              <a:ext uri="{FF2B5EF4-FFF2-40B4-BE49-F238E27FC236}">
                <a16:creationId xmlns:a16="http://schemas.microsoft.com/office/drawing/2014/main" id="{3C6DF647-9735-476C-A663-504C0731F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838325"/>
            <a:ext cx="1828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0233B"/>
                </a:solidFill>
              </a:defRPr>
            </a:pPr>
            <a:r>
              <a:rPr sz="1425" b="1">
                <a:solidFill>
                  <a:srgbClr val="10233B"/>
                </a:solidFill>
              </a:rPr>
              <a:t>Seguimiento tardío</a:t>
            </a:r>
          </a:p>
        </p:txBody>
      </p:sp>
      <p:sp>
        <p:nvSpPr>
          <p:cNvPr id="25" name="stage-sub-914">
            <a:extLst xmlns:a="http://schemas.openxmlformats.org/drawingml/2006/main">
              <a:ext uri="{FF2B5EF4-FFF2-40B4-BE49-F238E27FC236}">
                <a16:creationId xmlns:a16="http://schemas.microsoft.com/office/drawing/2014/main" id="{793366A1-22FF-4496-AE93-DCC85F15F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181225"/>
            <a:ext cx="1752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5B6F87"/>
                </a:solidFill>
              </a:defRPr>
            </a:pPr>
            <a:r>
              <a:rPr sz="1125" b="0">
                <a:solidFill>
                  <a:srgbClr val="5B6F87"/>
                </a:solidFill>
              </a:rPr>
              <a:t>Estados y motivos aislados</a:t>
            </a:r>
          </a:p>
        </p:txBody>
      </p:sp>
      <p:sp>
        <p:nvSpPr>
          <p:cNvPr id="26" name="before-title">
            <a:extLst xmlns:a="http://schemas.openxmlformats.org/drawingml/2006/main">
              <a:ext uri="{FF2B5EF4-FFF2-40B4-BE49-F238E27FC236}">
                <a16:creationId xmlns:a16="http://schemas.microsoft.com/office/drawing/2014/main" id="{5F14E54B-28D3-4C46-AFFD-B16588141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24225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F6B6B"/>
                </a:solidFill>
              </a:defRPr>
            </a:pPr>
            <a:r>
              <a:rPr sz="1500" b="1">
                <a:solidFill>
                  <a:srgbClr val="FF6B6B"/>
                </a:solidFill>
              </a:rPr>
              <a:t>ANTES</a:t>
            </a:r>
          </a:p>
        </p:txBody>
      </p:sp>
      <p:sp>
        <p:nvSpPr>
          <p:cNvPr id="27" name="before-list">
            <a:extLst xmlns:a="http://schemas.openxmlformats.org/drawingml/2006/main">
              <a:ext uri="{FF2B5EF4-FFF2-40B4-BE49-F238E27FC236}">
                <a16:creationId xmlns:a16="http://schemas.microsoft.com/office/drawing/2014/main" id="{8F02AA93-8E5E-45B1-A4E9-BD75FF3D1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24275"/>
            <a:ext cx="4191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0233B"/>
                </a:solidFill>
              </a:defRPr>
            </a:pPr>
            <a:r>
              <a:rPr sz="1500" b="0">
                <a:solidFill>
                  <a:srgbClr val="10233B"/>
                </a:solidFill>
              </a:rPr>
              <a:t>Búsqueda manual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0233B"/>
                </a:solidFill>
              </a:defRPr>
            </a:pPr>
            <a:r>
              <a:rPr sz="1500" b="0">
                <a:solidFill>
                  <a:srgbClr val="10233B"/>
                </a:solidFill>
              </a:rPr>
              <a:t>Datos separados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0233B"/>
                </a:solidFill>
              </a:defRPr>
            </a:pPr>
            <a:r>
              <a:rPr sz="1500" b="0">
                <a:solidFill>
                  <a:srgbClr val="10233B"/>
                </a:solidFill>
              </a:rPr>
              <a:t>Criterios difíciles de auditar</a:t>
            </a:r>
          </a:p>
        </p:txBody>
      </p:sp>
      <p:sp>
        <p:nvSpPr>
          <p:cNvPr id="28" name="compare-divider">
            <a:extLst xmlns:a="http://schemas.openxmlformats.org/drawingml/2006/main">
              <a:ext uri="{FF2B5EF4-FFF2-40B4-BE49-F238E27FC236}">
                <a16:creationId xmlns:a16="http://schemas.microsoft.com/office/drawing/2014/main" id="{4FD25850-F1BD-4B68-9040-D0164DF3E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314700"/>
            <a:ext cx="2857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after-title">
            <a:extLst xmlns:a="http://schemas.openxmlformats.org/drawingml/2006/main">
              <a:ext uri="{FF2B5EF4-FFF2-40B4-BE49-F238E27FC236}">
                <a16:creationId xmlns:a16="http://schemas.microsoft.com/office/drawing/2014/main" id="{25F92FA0-5CF4-4F0A-BDD4-087482F11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32422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26D99A"/>
                </a:solidFill>
              </a:defRPr>
            </a:pPr>
            <a:r>
              <a:rPr sz="1500" b="1">
                <a:solidFill>
                  <a:srgbClr val="26D99A"/>
                </a:solidFill>
              </a:rPr>
              <a:t>CON TALENTIA</a:t>
            </a:r>
          </a:p>
        </p:txBody>
      </p:sp>
      <p:sp>
        <p:nvSpPr>
          <p:cNvPr id="30" name="after-list">
            <a:extLst xmlns:a="http://schemas.openxmlformats.org/drawingml/2006/main">
              <a:ext uri="{FF2B5EF4-FFF2-40B4-BE49-F238E27FC236}">
                <a16:creationId xmlns:a16="http://schemas.microsoft.com/office/drawing/2014/main" id="{2FBE6712-39B3-4B03-AE6B-1C9DA2E53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724275"/>
            <a:ext cx="4762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0233B"/>
                </a:solidFill>
              </a:defRPr>
            </a:pPr>
            <a:r>
              <a:rPr sz="1500" b="0">
                <a:solidFill>
                  <a:srgbClr val="10233B"/>
                </a:solidFill>
              </a:rPr>
              <a:t>Expediente central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0233B"/>
                </a:solidFill>
              </a:defRPr>
            </a:pPr>
            <a:r>
              <a:rPr sz="1500" b="0">
                <a:solidFill>
                  <a:srgbClr val="10233B"/>
                </a:solidFill>
              </a:rPr>
              <a:t>Evaluación con evidencia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0233B"/>
                </a:solidFill>
              </a:defRPr>
            </a:pPr>
            <a:r>
              <a:rPr sz="1500" b="0">
                <a:solidFill>
                  <a:srgbClr val="10233B"/>
                </a:solidFill>
              </a:rPr>
              <a:t>Revisión humana registrada</a:t>
            </a:r>
          </a:p>
        </p:txBody>
      </p:sp>
      <p:sp>
        <p:nvSpPr>
          <p:cNvPr id="31" name="opportunity-band">
            <a:extLst xmlns:a="http://schemas.openxmlformats.org/drawingml/2006/main">
              <a:ext uri="{FF2B5EF4-FFF2-40B4-BE49-F238E27FC236}">
                <a16:creationId xmlns:a16="http://schemas.microsoft.com/office/drawing/2014/main" id="{8F9DBC97-5E9E-447F-B4B9-A997001B1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14950"/>
            <a:ext cx="1015365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0B1F3A"/>
          </a:solidFill>
          <a:ln xmlns:a="http://schemas.openxmlformats.org/drawingml/2006/main" w="9525">
            <a:solidFill>
              <a:srgbClr val="168BFF"/>
            </a:solidFill>
            <a:prstDash val="solid"/>
          </a:ln>
        </p:spPr>
      </p:sp>
      <p:sp>
        <p:nvSpPr>
          <p:cNvPr id="32" name="opportunity-label">
            <a:extLst xmlns:a="http://schemas.openxmlformats.org/drawingml/2006/main">
              <a:ext uri="{FF2B5EF4-FFF2-40B4-BE49-F238E27FC236}">
                <a16:creationId xmlns:a16="http://schemas.microsoft.com/office/drawing/2014/main" id="{DEBCCFC4-9FAB-4F87-8ACD-8EA476324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55054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37D5FF"/>
                </a:solidFill>
              </a:defRPr>
            </a:pPr>
            <a:r>
              <a:rPr sz="1275" b="1">
                <a:solidFill>
                  <a:srgbClr val="37D5FF"/>
                </a:solidFill>
              </a:rPr>
              <a:t>OPORTUNIDAD</a:t>
            </a:r>
          </a:p>
        </p:txBody>
      </p:sp>
      <p:sp>
        <p:nvSpPr>
          <p:cNvPr id="33" name="opportunity-copy">
            <a:extLst xmlns:a="http://schemas.openxmlformats.org/drawingml/2006/main">
              <a:ext uri="{FF2B5EF4-FFF2-40B4-BE49-F238E27FC236}">
                <a16:creationId xmlns:a16="http://schemas.microsoft.com/office/drawing/2014/main" id="{B2077E08-0CCA-4FED-9629-20ABF4886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5467350"/>
            <a:ext cx="7762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7FBFF"/>
                </a:solidFill>
              </a:defRPr>
            </a:pPr>
            <a:r>
              <a:rPr sz="1650" b="1">
                <a:solidFill>
                  <a:srgbClr val="F7FBFF"/>
                </a:solidFill>
              </a:rPr>
              <a:t>Reducir trabajo repetitivo sin delegar decisiones de selección a la IA.</a:t>
            </a:r>
          </a:p>
        </p:txBody>
      </p:sp>
      <p:sp>
        <p:nvSpPr>
          <p:cNvPr id="34" name="footer-2">
            <a:extLst xmlns:a="http://schemas.openxmlformats.org/drawingml/2006/main">
              <a:ext uri="{FF2B5EF4-FFF2-40B4-BE49-F238E27FC236}">
                <a16:creationId xmlns:a16="http://schemas.microsoft.com/office/drawing/2014/main" id="{38B98F25-192D-4232-BD93-6EBA12BAE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24625"/>
            <a:ext cx="323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5B6F87"/>
                </a:solidFill>
              </a:defRPr>
            </a:pPr>
            <a:r>
              <a:rPr sz="825" b="1">
                <a:solidFill>
                  <a:srgbClr val="5B6F87"/>
                </a:solidFill>
              </a:rPr>
              <a:t>TALENTIA  |  ATS ASISTIDO PARA TCS</a:t>
            </a:r>
          </a:p>
        </p:txBody>
      </p:sp>
      <p:sp>
        <p:nvSpPr>
          <p:cNvPr id="35" name="page-2">
            <a:extLst xmlns:a="http://schemas.openxmlformats.org/drawingml/2006/main">
              <a:ext uri="{FF2B5EF4-FFF2-40B4-BE49-F238E27FC236}">
                <a16:creationId xmlns:a16="http://schemas.microsoft.com/office/drawing/2014/main" id="{6D82B8EC-33E5-44D5-BFAF-A158EBF3E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5B6F87"/>
                </a:solidFill>
              </a:defRPr>
            </a:pPr>
            <a:r>
              <a:rPr sz="975" b="1">
                <a:solidFill>
                  <a:srgbClr val="5B6F87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79302507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02 · Stack-kicker">
            <a:extLst xmlns:a="http://schemas.openxmlformats.org/drawingml/2006/main">
              <a:ext uri="{FF2B5EF4-FFF2-40B4-BE49-F238E27FC236}">
                <a16:creationId xmlns:a16="http://schemas.microsoft.com/office/drawing/2014/main" id="{FA58E06E-65B5-43E0-A671-8BE123728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3375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37D5FF"/>
                </a:solidFill>
              </a:defRPr>
            </a:pPr>
            <a:r>
              <a:rPr sz="1200" b="1">
                <a:solidFill>
                  <a:srgbClr val="37D5FF"/>
                </a:solidFill>
              </a:rPr>
              <a:t>02 · STACK</a:t>
            </a:r>
          </a:p>
        </p:txBody>
      </p:sp>
      <p:sp>
        <p:nvSpPr>
          <p:cNvPr id="2" name="02 · Stack-heading">
            <a:extLst xmlns:a="http://schemas.openxmlformats.org/drawingml/2006/main">
              <a:ext uri="{FF2B5EF4-FFF2-40B4-BE49-F238E27FC236}">
                <a16:creationId xmlns:a16="http://schemas.microsoft.com/office/drawing/2014/main" id="{54D3041F-6774-4251-8457-478BF2E13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817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7FBFF"/>
                </a:solidFill>
              </a:defRPr>
            </a:pPr>
            <a:r>
              <a:rPr sz="2850" b="1">
                <a:solidFill>
                  <a:srgbClr val="F7FBFF"/>
                </a:solidFill>
              </a:rPr>
              <a:t>El piloto usa un único runtime Python</a:t>
            </a:r>
          </a:p>
        </p:txBody>
      </p:sp>
      <p:sp>
        <p:nvSpPr>
          <p:cNvPr id="3" name="02 · Stack-rule">
            <a:extLst xmlns:a="http://schemas.openxmlformats.org/drawingml/2006/main">
              <a:ext uri="{FF2B5EF4-FFF2-40B4-BE49-F238E27FC236}">
                <a16:creationId xmlns:a16="http://schemas.microsoft.com/office/drawing/2014/main" id="{05A33035-F964-4622-A48A-5B016DDCC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19200"/>
            <a:ext cx="704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D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group-EXPERIENCIA">
            <a:extLst xmlns:a="http://schemas.openxmlformats.org/drawingml/2006/main">
              <a:ext uri="{FF2B5EF4-FFF2-40B4-BE49-F238E27FC236}">
                <a16:creationId xmlns:a16="http://schemas.microsoft.com/office/drawing/2014/main" id="{9C7B3A49-67A2-463E-A657-256C3B256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6210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37D5FF"/>
                </a:solidFill>
              </a:defRPr>
            </a:pPr>
            <a:r>
              <a:rPr sz="1200" b="1">
                <a:solidFill>
                  <a:srgbClr val="37D5FF"/>
                </a:solidFill>
              </a:rPr>
              <a:t>EXPERIENCIA</a:t>
            </a:r>
          </a:p>
        </p:txBody>
      </p:sp>
      <p:sp>
        <p:nvSpPr>
          <p:cNvPr id="5" name="group-rule-EXPERIENCIA">
            <a:extLst xmlns:a="http://schemas.openxmlformats.org/drawingml/2006/main">
              <a:ext uri="{FF2B5EF4-FFF2-40B4-BE49-F238E27FC236}">
                <a16:creationId xmlns:a16="http://schemas.microsoft.com/office/drawing/2014/main" id="{4DE6FA3D-9C1A-4887-B000-9FC32F66C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76425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D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ch-name-Streamlit">
            <a:extLst xmlns:a="http://schemas.openxmlformats.org/drawingml/2006/main">
              <a:ext uri="{FF2B5EF4-FFF2-40B4-BE49-F238E27FC236}">
                <a16:creationId xmlns:a16="http://schemas.microsoft.com/office/drawing/2014/main" id="{69CF659A-BD37-4731-AC8F-A67EAF284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3360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7FBFF"/>
                </a:solidFill>
              </a:defRPr>
            </a:pPr>
            <a:r>
              <a:rPr sz="1575" b="1">
                <a:solidFill>
                  <a:srgbClr val="F7FBFF"/>
                </a:solidFill>
              </a:rPr>
              <a:t>Jinja2 + HTMX</a:t>
            </a:r>
          </a:p>
        </p:txBody>
      </p:sp>
      <p:sp>
        <p:nvSpPr>
          <p:cNvPr id="7" name="tech-role-Streamlit">
            <a:extLst xmlns:a="http://schemas.openxmlformats.org/drawingml/2006/main">
              <a:ext uri="{FF2B5EF4-FFF2-40B4-BE49-F238E27FC236}">
                <a16:creationId xmlns:a16="http://schemas.microsoft.com/office/drawing/2014/main" id="{823DE97A-4731-4E4A-968A-0A73FE2F9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28875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AFC5DC"/>
                </a:solidFill>
              </a:defRPr>
            </a:pPr>
            <a:r>
              <a:rPr sz="1200" b="0">
                <a:solidFill>
                  <a:srgbClr val="AFC5DC"/>
                </a:solidFill>
              </a:rPr>
              <a:t>Interfaz web</a:t>
            </a:r>
          </a:p>
        </p:txBody>
      </p:sp>
      <p:sp>
        <p:nvSpPr>
          <p:cNvPr id="8" name="tech-rule-Streamlit">
            <a:extLst xmlns:a="http://schemas.openxmlformats.org/drawingml/2006/main">
              <a:ext uri="{FF2B5EF4-FFF2-40B4-BE49-F238E27FC236}">
                <a16:creationId xmlns:a16="http://schemas.microsoft.com/office/drawing/2014/main" id="{41DB56A7-8BEF-4B9D-A0EE-768E723F6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90825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3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ch-name-Altair">
            <a:extLst xmlns:a="http://schemas.openxmlformats.org/drawingml/2006/main">
              <a:ext uri="{FF2B5EF4-FFF2-40B4-BE49-F238E27FC236}">
                <a16:creationId xmlns:a16="http://schemas.microsoft.com/office/drawing/2014/main" id="{9A711F82-5BED-4247-B0CC-777F5737E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62275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7FBFF"/>
                </a:solidFill>
              </a:defRPr>
            </a:pPr>
            <a:r>
              <a:rPr sz="1575" b="1">
                <a:solidFill>
                  <a:srgbClr val="F7FBFF"/>
                </a:solidFill>
              </a:rPr>
              <a:t>Bootstrap</a:t>
            </a:r>
          </a:p>
        </p:txBody>
      </p:sp>
      <p:sp>
        <p:nvSpPr>
          <p:cNvPr id="10" name="tech-role-Altair">
            <a:extLst xmlns:a="http://schemas.openxmlformats.org/drawingml/2006/main">
              <a:ext uri="{FF2B5EF4-FFF2-40B4-BE49-F238E27FC236}">
                <a16:creationId xmlns:a16="http://schemas.microsoft.com/office/drawing/2014/main" id="{C1B8AFFA-32DC-4B9C-93AD-877E245A5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575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AFC5DC"/>
                </a:solidFill>
              </a:defRPr>
            </a:pPr>
            <a:r>
              <a:rPr sz="1200" b="0">
                <a:solidFill>
                  <a:srgbClr val="AFC5DC"/>
                </a:solidFill>
              </a:rPr>
              <a:t>Diseño responsive</a:t>
            </a:r>
          </a:p>
        </p:txBody>
      </p:sp>
      <p:sp>
        <p:nvSpPr>
          <p:cNvPr id="11" name="tech-rule-Altair">
            <a:extLst xmlns:a="http://schemas.openxmlformats.org/drawingml/2006/main">
              <a:ext uri="{FF2B5EF4-FFF2-40B4-BE49-F238E27FC236}">
                <a16:creationId xmlns:a16="http://schemas.microsoft.com/office/drawing/2014/main" id="{5FAC196E-75C6-4ED6-A392-37B329B18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3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ch-name-ReportLab + Gmail">
            <a:extLst xmlns:a="http://schemas.openxmlformats.org/drawingml/2006/main">
              <a:ext uri="{FF2B5EF4-FFF2-40B4-BE49-F238E27FC236}">
                <a16:creationId xmlns:a16="http://schemas.microsoft.com/office/drawing/2014/main" id="{BCE66715-9E5C-4D07-9935-8F35C0BD2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9095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7FBFF"/>
                </a:solidFill>
              </a:defRPr>
            </a:pPr>
            <a:r>
              <a:rPr sz="1575" b="1">
                <a:solidFill>
                  <a:srgbClr val="F7FBFF"/>
                </a:solidFill>
              </a:rPr>
              <a:t>PDF y DOCX</a:t>
            </a:r>
          </a:p>
        </p:txBody>
      </p:sp>
      <p:sp>
        <p:nvSpPr>
          <p:cNvPr id="13" name="tech-role-ReportLab + Gmail">
            <a:extLst xmlns:a="http://schemas.openxmlformats.org/drawingml/2006/main">
              <a:ext uri="{FF2B5EF4-FFF2-40B4-BE49-F238E27FC236}">
                <a16:creationId xmlns:a16="http://schemas.microsoft.com/office/drawing/2014/main" id="{7211585D-3A48-4686-929B-3AF05781F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86225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AFC5DC"/>
                </a:solidFill>
              </a:defRPr>
            </a:pPr>
            <a:r>
              <a:rPr sz="1200" b="0">
                <a:solidFill>
                  <a:srgbClr val="AFC5DC"/>
                </a:solidFill>
              </a:rPr>
              <a:t>Carga documental</a:t>
            </a:r>
          </a:p>
        </p:txBody>
      </p:sp>
      <p:sp>
        <p:nvSpPr>
          <p:cNvPr id="14" name="tech-rule-ReportLab + Gmail">
            <a:extLst xmlns:a="http://schemas.openxmlformats.org/drawingml/2006/main">
              <a:ext uri="{FF2B5EF4-FFF2-40B4-BE49-F238E27FC236}">
                <a16:creationId xmlns:a16="http://schemas.microsoft.com/office/drawing/2014/main" id="{ED451623-9D8B-4755-8377-3F1E4949D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48175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3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group-AGENTE Y DATOS">
            <a:extLst xmlns:a="http://schemas.openxmlformats.org/drawingml/2006/main">
              <a:ext uri="{FF2B5EF4-FFF2-40B4-BE49-F238E27FC236}">
                <a16:creationId xmlns:a16="http://schemas.microsoft.com/office/drawing/2014/main" id="{A76486DD-1D14-4DAC-A868-67F3467A8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56210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68BFF"/>
                </a:solidFill>
              </a:defRPr>
            </a:pPr>
            <a:r>
              <a:rPr sz="1200" b="1">
                <a:solidFill>
                  <a:srgbClr val="168BFF"/>
                </a:solidFill>
              </a:rPr>
              <a:t>APLICACIÓN Y DATOS</a:t>
            </a:r>
          </a:p>
        </p:txBody>
      </p:sp>
      <p:sp>
        <p:nvSpPr>
          <p:cNvPr id="16" name="group-rule-AGENTE Y DATOS">
            <a:extLst xmlns:a="http://schemas.openxmlformats.org/drawingml/2006/main">
              <a:ext uri="{FF2B5EF4-FFF2-40B4-BE49-F238E27FC236}">
                <a16:creationId xmlns:a16="http://schemas.microsoft.com/office/drawing/2014/main" id="{C9E9D030-CA2C-48A5-BF21-B85F2FA3F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876425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ech-name-FastAPI">
            <a:extLst xmlns:a="http://schemas.openxmlformats.org/drawingml/2006/main">
              <a:ext uri="{FF2B5EF4-FFF2-40B4-BE49-F238E27FC236}">
                <a16:creationId xmlns:a16="http://schemas.microsoft.com/office/drawing/2014/main" id="{E2F69F5F-E25A-4F47-85D6-087E69E8F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13360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7FBFF"/>
                </a:solidFill>
              </a:defRPr>
            </a:pPr>
            <a:r>
              <a:rPr sz="1575" b="1">
                <a:solidFill>
                  <a:srgbClr val="F7FBFF"/>
                </a:solidFill>
              </a:rPr>
              <a:t>FastAPI</a:t>
            </a:r>
          </a:p>
        </p:txBody>
      </p:sp>
      <p:sp>
        <p:nvSpPr>
          <p:cNvPr id="18" name="tech-role-FastAPI">
            <a:extLst xmlns:a="http://schemas.openxmlformats.org/drawingml/2006/main">
              <a:ext uri="{FF2B5EF4-FFF2-40B4-BE49-F238E27FC236}">
                <a16:creationId xmlns:a16="http://schemas.microsoft.com/office/drawing/2014/main" id="{AA39B5E0-D5AB-478D-9F15-B052D02B0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428875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AFC5DC"/>
                </a:solidFill>
              </a:defRPr>
            </a:pPr>
            <a:r>
              <a:rPr sz="1200" b="0">
                <a:solidFill>
                  <a:srgbClr val="AFC5DC"/>
                </a:solidFill>
              </a:rPr>
              <a:t>API y web</a:t>
            </a:r>
          </a:p>
        </p:txBody>
      </p:sp>
      <p:sp>
        <p:nvSpPr>
          <p:cNvPr id="19" name="tech-rule-FastAPI">
            <a:extLst xmlns:a="http://schemas.openxmlformats.org/drawingml/2006/main">
              <a:ext uri="{FF2B5EF4-FFF2-40B4-BE49-F238E27FC236}">
                <a16:creationId xmlns:a16="http://schemas.microsoft.com/office/drawing/2014/main" id="{4AF1B6EE-BD82-41B2-A59A-839298215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790825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3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ech-name-LangGraph">
            <a:extLst xmlns:a="http://schemas.openxmlformats.org/drawingml/2006/main">
              <a:ext uri="{FF2B5EF4-FFF2-40B4-BE49-F238E27FC236}">
                <a16:creationId xmlns:a16="http://schemas.microsoft.com/office/drawing/2014/main" id="{BC971761-38E9-47C8-BEE5-54CF88B7A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962275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7FBFF"/>
                </a:solidFill>
              </a:defRPr>
            </a:pPr>
            <a:r>
              <a:rPr sz="1575" b="1">
                <a:solidFill>
                  <a:srgbClr val="F7FBFF"/>
                </a:solidFill>
              </a:rPr>
              <a:t>LangGraph</a:t>
            </a:r>
          </a:p>
        </p:txBody>
      </p:sp>
      <p:sp>
        <p:nvSpPr>
          <p:cNvPr id="21" name="tech-role-LangGraph">
            <a:extLst xmlns:a="http://schemas.openxmlformats.org/drawingml/2006/main">
              <a:ext uri="{FF2B5EF4-FFF2-40B4-BE49-F238E27FC236}">
                <a16:creationId xmlns:a16="http://schemas.microsoft.com/office/drawing/2014/main" id="{8C6286A2-24A7-495C-BA77-FB9B02D47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2575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AFC5DC"/>
                </a:solidFill>
              </a:defRPr>
            </a:pPr>
            <a:r>
              <a:rPr sz="1200" b="0">
                <a:solidFill>
                  <a:srgbClr val="AFC5DC"/>
                </a:solidFill>
              </a:rPr>
              <a:t>Flujo durable de AG-02 y AG-03</a:t>
            </a:r>
          </a:p>
        </p:txBody>
      </p:sp>
      <p:sp>
        <p:nvSpPr>
          <p:cNvPr id="22" name="tech-rule-LangGraph">
            <a:extLst xmlns:a="http://schemas.openxmlformats.org/drawingml/2006/main">
              <a:ext uri="{FF2B5EF4-FFF2-40B4-BE49-F238E27FC236}">
                <a16:creationId xmlns:a16="http://schemas.microsoft.com/office/drawing/2014/main" id="{5BACD01A-3873-4E68-BFC7-95CCD6E29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61950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3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tech-name-Gemini">
            <a:extLst xmlns:a="http://schemas.openxmlformats.org/drawingml/2006/main">
              <a:ext uri="{FF2B5EF4-FFF2-40B4-BE49-F238E27FC236}">
                <a16:creationId xmlns:a16="http://schemas.microsoft.com/office/drawing/2014/main" id="{A9975255-7250-4709-8AC0-9364C2BBC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79095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7FBFF"/>
                </a:solidFill>
              </a:defRPr>
            </a:pPr>
            <a:r>
              <a:rPr sz="1575" b="1">
                <a:solidFill>
                  <a:srgbClr val="F7FBFF"/>
                </a:solidFill>
              </a:rPr>
              <a:t>SQLAlchemy + SQLite</a:t>
            </a:r>
          </a:p>
        </p:txBody>
      </p:sp>
      <p:sp>
        <p:nvSpPr>
          <p:cNvPr id="24" name="tech-role-Gemini">
            <a:extLst xmlns:a="http://schemas.openxmlformats.org/drawingml/2006/main">
              <a:ext uri="{FF2B5EF4-FFF2-40B4-BE49-F238E27FC236}">
                <a16:creationId xmlns:a16="http://schemas.microsoft.com/office/drawing/2014/main" id="{0E46429E-0F6B-4800-995C-960CA2A3D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086225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AFC5DC"/>
                </a:solidFill>
              </a:defRPr>
            </a:pPr>
            <a:r>
              <a:rPr sz="1200" b="0">
                <a:solidFill>
                  <a:srgbClr val="AFC5DC"/>
                </a:solidFill>
              </a:rPr>
              <a:t>Persistencia e índices</a:t>
            </a:r>
          </a:p>
        </p:txBody>
      </p:sp>
      <p:sp>
        <p:nvSpPr>
          <p:cNvPr id="25" name="tech-rule-Gemini">
            <a:extLst xmlns:a="http://schemas.openxmlformats.org/drawingml/2006/main">
              <a:ext uri="{FF2B5EF4-FFF2-40B4-BE49-F238E27FC236}">
                <a16:creationId xmlns:a16="http://schemas.microsoft.com/office/drawing/2014/main" id="{2C6ACA43-42A3-4A27-882E-A773B378E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448175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3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tech-name-SQLite">
            <a:extLst xmlns:a="http://schemas.openxmlformats.org/drawingml/2006/main">
              <a:ext uri="{FF2B5EF4-FFF2-40B4-BE49-F238E27FC236}">
                <a16:creationId xmlns:a16="http://schemas.microsoft.com/office/drawing/2014/main" id="{3872DD90-21F6-46F8-B2FE-3B513A588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619625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7FBFF"/>
                </a:solidFill>
              </a:defRPr>
            </a:pPr>
            <a:r>
              <a:rPr sz="1575" b="1">
                <a:solidFill>
                  <a:srgbClr val="F7FBFF"/>
                </a:solidFill>
              </a:rPr>
              <a:t>Alembic</a:t>
            </a:r>
          </a:p>
        </p:txBody>
      </p:sp>
      <p:sp>
        <p:nvSpPr>
          <p:cNvPr id="27" name="tech-role-SQLite">
            <a:extLst xmlns:a="http://schemas.openxmlformats.org/drawingml/2006/main">
              <a:ext uri="{FF2B5EF4-FFF2-40B4-BE49-F238E27FC236}">
                <a16:creationId xmlns:a16="http://schemas.microsoft.com/office/drawing/2014/main" id="{62576767-D7BC-4847-BA6B-1065910E8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9149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AFC5DC"/>
                </a:solidFill>
              </a:defRPr>
            </a:pPr>
            <a:r>
              <a:rPr sz="1200" b="0">
                <a:solidFill>
                  <a:srgbClr val="AFC5DC"/>
                </a:solidFill>
              </a:rPr>
              <a:t>Migraciones de esquema</a:t>
            </a:r>
          </a:p>
        </p:txBody>
      </p:sp>
      <p:sp>
        <p:nvSpPr>
          <p:cNvPr id="28" name="tech-rule-SQLite">
            <a:extLst xmlns:a="http://schemas.openxmlformats.org/drawingml/2006/main">
              <a:ext uri="{FF2B5EF4-FFF2-40B4-BE49-F238E27FC236}">
                <a16:creationId xmlns:a16="http://schemas.microsoft.com/office/drawing/2014/main" id="{AB00381B-B7B6-47A0-AA4B-9DFC78C79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527685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3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group-CONFIANZA">
            <a:extLst xmlns:a="http://schemas.openxmlformats.org/drawingml/2006/main">
              <a:ext uri="{FF2B5EF4-FFF2-40B4-BE49-F238E27FC236}">
                <a16:creationId xmlns:a16="http://schemas.microsoft.com/office/drawing/2014/main" id="{C401654E-644B-427E-B911-643FE548D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56210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6D99A"/>
                </a:solidFill>
              </a:defRPr>
            </a:pPr>
            <a:r>
              <a:rPr sz="1200" b="1">
                <a:solidFill>
                  <a:srgbClr val="26D99A"/>
                </a:solidFill>
              </a:rPr>
              <a:t>GOBIERNO</a:t>
            </a:r>
          </a:p>
        </p:txBody>
      </p:sp>
      <p:sp>
        <p:nvSpPr>
          <p:cNvPr id="30" name="group-rule-CONFIANZA">
            <a:extLst xmlns:a="http://schemas.openxmlformats.org/drawingml/2006/main">
              <a:ext uri="{FF2B5EF4-FFF2-40B4-BE49-F238E27FC236}">
                <a16:creationId xmlns:a16="http://schemas.microsoft.com/office/drawing/2014/main" id="{AC060F8A-00FB-4CD4-A567-C512BB6E5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876425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D9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tech-name-MLflow">
            <a:extLst xmlns:a="http://schemas.openxmlformats.org/drawingml/2006/main">
              <a:ext uri="{FF2B5EF4-FFF2-40B4-BE49-F238E27FC236}">
                <a16:creationId xmlns:a16="http://schemas.microsoft.com/office/drawing/2014/main" id="{C50960F4-EF50-46C2-BF8E-1D52D5BD2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13360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7FBFF"/>
                </a:solidFill>
              </a:defRPr>
            </a:pPr>
            <a:r>
              <a:rPr sz="1575" b="1">
                <a:solidFill>
                  <a:srgbClr val="F7FBFF"/>
                </a:solidFill>
              </a:rPr>
              <a:t>RBAC + sesiones</a:t>
            </a:r>
          </a:p>
        </p:txBody>
      </p:sp>
      <p:sp>
        <p:nvSpPr>
          <p:cNvPr id="32" name="tech-role-MLflow">
            <a:extLst xmlns:a="http://schemas.openxmlformats.org/drawingml/2006/main">
              <a:ext uri="{FF2B5EF4-FFF2-40B4-BE49-F238E27FC236}">
                <a16:creationId xmlns:a16="http://schemas.microsoft.com/office/drawing/2014/main" id="{EA9702FE-8E22-4B73-8037-961D0B5D5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428875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AFC5DC"/>
                </a:solidFill>
              </a:defRPr>
            </a:pPr>
            <a:r>
              <a:rPr sz="1200" b="0">
                <a:solidFill>
                  <a:srgbClr val="AFC5DC"/>
                </a:solidFill>
              </a:rPr>
              <a:t>Acceso por roles</a:t>
            </a:r>
          </a:p>
        </p:txBody>
      </p:sp>
      <p:sp>
        <p:nvSpPr>
          <p:cNvPr id="33" name="tech-rule-MLflow">
            <a:extLst xmlns:a="http://schemas.openxmlformats.org/drawingml/2006/main">
              <a:ext uri="{FF2B5EF4-FFF2-40B4-BE49-F238E27FC236}">
                <a16:creationId xmlns:a16="http://schemas.microsoft.com/office/drawing/2014/main" id="{2CFA7C19-98D8-464D-8896-E65A0FD90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790825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3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tech-name-JWT + bcrypt + RBAC">
            <a:extLst xmlns:a="http://schemas.openxmlformats.org/drawingml/2006/main">
              <a:ext uri="{FF2B5EF4-FFF2-40B4-BE49-F238E27FC236}">
                <a16:creationId xmlns:a16="http://schemas.microsoft.com/office/drawing/2014/main" id="{4CB0C14A-7A03-411D-963C-17CDFB35D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962275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7FBFF"/>
                </a:solidFill>
              </a:defRPr>
            </a:pPr>
            <a:r>
              <a:rPr sz="1575" b="1">
                <a:solidFill>
                  <a:srgbClr val="F7FBFF"/>
                </a:solidFill>
              </a:rPr>
              <a:t>MLflow opcional</a:t>
            </a:r>
          </a:p>
        </p:txBody>
      </p:sp>
      <p:sp>
        <p:nvSpPr>
          <p:cNvPr id="35" name="tech-role-JWT + bcrypt + RBAC">
            <a:extLst xmlns:a="http://schemas.openxmlformats.org/drawingml/2006/main">
              <a:ext uri="{FF2B5EF4-FFF2-40B4-BE49-F238E27FC236}">
                <a16:creationId xmlns:a16="http://schemas.microsoft.com/office/drawing/2014/main" id="{13552DAA-80C0-46F2-82F6-5A5414841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2575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AFC5DC"/>
                </a:solidFill>
              </a:defRPr>
            </a:pPr>
            <a:r>
              <a:rPr sz="1200" b="0">
                <a:solidFill>
                  <a:srgbClr val="AFC5DC"/>
                </a:solidFill>
              </a:rPr>
              <a:t>Benchmark fuera del runtime</a:t>
            </a:r>
          </a:p>
        </p:txBody>
      </p:sp>
      <p:sp>
        <p:nvSpPr>
          <p:cNvPr id="36" name="tech-rule-JWT + bcrypt + RBAC">
            <a:extLst xmlns:a="http://schemas.openxmlformats.org/drawingml/2006/main">
              <a:ext uri="{FF2B5EF4-FFF2-40B4-BE49-F238E27FC236}">
                <a16:creationId xmlns:a16="http://schemas.microsoft.com/office/drawing/2014/main" id="{51342D6C-59E3-46E0-B8EE-D39BFB296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61950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3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tech-name-pytest">
            <a:extLst xmlns:a="http://schemas.openxmlformats.org/drawingml/2006/main">
              <a:ext uri="{FF2B5EF4-FFF2-40B4-BE49-F238E27FC236}">
                <a16:creationId xmlns:a16="http://schemas.microsoft.com/office/drawing/2014/main" id="{D9AC6ACB-ACFB-4EE3-9E5D-50AB2C6EC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79095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7FBFF"/>
                </a:solidFill>
              </a:defRPr>
            </a:pPr>
            <a:r>
              <a:rPr sz="1575" b="1">
                <a:solidFill>
                  <a:srgbClr val="F7FBFF"/>
                </a:solidFill>
              </a:rPr>
              <a:t>Pytest + CI</a:t>
            </a:r>
          </a:p>
        </p:txBody>
      </p:sp>
      <p:sp>
        <p:nvSpPr>
          <p:cNvPr id="38" name="tech-role-pytest">
            <a:extLst xmlns:a="http://schemas.openxmlformats.org/drawingml/2006/main">
              <a:ext uri="{FF2B5EF4-FFF2-40B4-BE49-F238E27FC236}">
                <a16:creationId xmlns:a16="http://schemas.microsoft.com/office/drawing/2014/main" id="{CAB48EC8-7160-4965-B8A0-BC457CD2D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086225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AFC5DC"/>
                </a:solidFill>
              </a:defRPr>
            </a:pPr>
            <a:r>
              <a:rPr sz="1200" b="0">
                <a:solidFill>
                  <a:srgbClr val="AFC5DC"/>
                </a:solidFill>
              </a:rPr>
              <a:t>Verificación automática</a:t>
            </a:r>
          </a:p>
        </p:txBody>
      </p:sp>
      <p:sp>
        <p:nvSpPr>
          <p:cNvPr id="39" name="tech-rule-pytest">
            <a:extLst xmlns:a="http://schemas.openxmlformats.org/drawingml/2006/main">
              <a:ext uri="{FF2B5EF4-FFF2-40B4-BE49-F238E27FC236}">
                <a16:creationId xmlns:a16="http://schemas.microsoft.com/office/drawing/2014/main" id="{6CF58064-6606-4F4F-86D7-56E0FCB20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448175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3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deterministic-note">
            <a:extLst xmlns:a="http://schemas.openxmlformats.org/drawingml/2006/main">
              <a:ext uri="{FF2B5EF4-FFF2-40B4-BE49-F238E27FC236}">
                <a16:creationId xmlns:a16="http://schemas.microsoft.com/office/drawing/2014/main" id="{AA6AEE88-DECC-4E62-8DC8-3E4AFFAF3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29275"/>
            <a:ext cx="108966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102C4D"/>
          </a:solidFill>
          <a:ln xmlns:a="http://schemas.openxmlformats.org/drawingml/2006/main" w="9525">
            <a:solidFill>
              <a:srgbClr val="37D5FF"/>
            </a:solidFill>
            <a:prstDash val="solid"/>
          </a:ln>
        </p:spPr>
      </p:sp>
      <p:sp>
        <p:nvSpPr>
          <p:cNvPr id="41" name="deterministic-note-text">
            <a:extLst xmlns:a="http://schemas.openxmlformats.org/drawingml/2006/main">
              <a:ext uri="{FF2B5EF4-FFF2-40B4-BE49-F238E27FC236}">
                <a16:creationId xmlns:a16="http://schemas.microsoft.com/office/drawing/2014/main" id="{968AEA7C-E369-4830-84DE-8DF081C3D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5800725"/>
            <a:ext cx="10458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7FBFF"/>
                </a:solidFill>
              </a:defRPr>
            </a:pPr>
            <a:r>
              <a:rPr sz="1425" b="1">
                <a:solidFill>
                  <a:srgbClr val="F7FBFF"/>
                </a:solidFill>
              </a:rPr>
              <a:t>Python ejecuta las reglas determinísticas. El modelo opcional solo propone extracción o evaluación estructurada.</a:t>
            </a:r>
          </a:p>
        </p:txBody>
      </p:sp>
      <p:sp>
        <p:nvSpPr>
          <p:cNvPr id="42" name="footer-3">
            <a:extLst xmlns:a="http://schemas.openxmlformats.org/drawingml/2006/main">
              <a:ext uri="{FF2B5EF4-FFF2-40B4-BE49-F238E27FC236}">
                <a16:creationId xmlns:a16="http://schemas.microsoft.com/office/drawing/2014/main" id="{959A4355-8587-422F-A255-0BF1BB856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24625"/>
            <a:ext cx="323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AFC5DC"/>
                </a:solidFill>
              </a:defRPr>
            </a:pPr>
            <a:r>
              <a:rPr sz="825" b="1">
                <a:solidFill>
                  <a:srgbClr val="AFC5DC"/>
                </a:solidFill>
              </a:rPr>
              <a:t>TALENTIA  |  ATS ASISTIDO PARA TCS</a:t>
            </a:r>
          </a:p>
        </p:txBody>
      </p:sp>
      <p:sp>
        <p:nvSpPr>
          <p:cNvPr id="43" name="page-3">
            <a:extLst xmlns:a="http://schemas.openxmlformats.org/drawingml/2006/main">
              <a:ext uri="{FF2B5EF4-FFF2-40B4-BE49-F238E27FC236}">
                <a16:creationId xmlns:a16="http://schemas.microsoft.com/office/drawing/2014/main" id="{B7CA5741-BBF1-4C7B-A4D1-EA9D421A2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AFC5DC"/>
                </a:solidFill>
              </a:defRPr>
            </a:pPr>
            <a:r>
              <a:rPr sz="975" b="1">
                <a:solidFill>
                  <a:srgbClr val="AFC5DC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97115091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0" name="03 · Arquitectura-kicker">
            <a:extLst xmlns:a="http://schemas.openxmlformats.org/drawingml/2006/main">
              <a:ext uri="{FF2B5EF4-FFF2-40B4-BE49-F238E27FC236}">
                <a16:creationId xmlns:a16="http://schemas.microsoft.com/office/drawing/2014/main" id="{5D36479C-3C56-4B6D-81F4-927625965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3375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68BFF"/>
                </a:solidFill>
              </a:defRPr>
            </a:pPr>
            <a:r>
              <a:rPr sz="1200" b="1">
                <a:solidFill>
                  <a:srgbClr val="168BFF"/>
                </a:solidFill>
              </a:rPr>
              <a:t>03 · ARQUITECTURA</a:t>
            </a:r>
          </a:p>
        </p:txBody>
      </p:sp>
      <p:sp>
        <p:nvSpPr>
          <p:cNvPr id="2" name="03 · Arquitectura-heading">
            <a:extLst xmlns:a="http://schemas.openxmlformats.org/drawingml/2006/main">
              <a:ext uri="{FF2B5EF4-FFF2-40B4-BE49-F238E27FC236}">
                <a16:creationId xmlns:a16="http://schemas.microsoft.com/office/drawing/2014/main" id="{F97A43BA-B969-4EE0-8A35-B2B6504CC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817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233B"/>
                </a:solidFill>
              </a:defRPr>
            </a:pPr>
            <a:r>
              <a:rPr sz="2850" b="1">
                <a:solidFill>
                  <a:srgbClr val="10233B"/>
                </a:solidFill>
              </a:rPr>
              <a:t>Cinco agentes especializados mantienen el control humano</a:t>
            </a:r>
          </a:p>
        </p:txBody>
      </p:sp>
      <p:sp>
        <p:nvSpPr>
          <p:cNvPr id="3" name="03 · Arquitectura-rule">
            <a:extLst xmlns:a="http://schemas.openxmlformats.org/drawingml/2006/main">
              <a:ext uri="{FF2B5EF4-FFF2-40B4-BE49-F238E27FC236}">
                <a16:creationId xmlns:a16="http://schemas.microsoft.com/office/drawing/2014/main" id="{7119D090-C3C9-4F9A-9065-3A825A782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19200"/>
            <a:ext cx="704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main-arrow-0-shaft">
            <a:extLst xmlns:a="http://schemas.openxmlformats.org/drawingml/2006/main">
              <a:ext uri="{FF2B5EF4-FFF2-40B4-BE49-F238E27FC236}">
                <a16:creationId xmlns:a16="http://schemas.microsoft.com/office/drawing/2014/main" id="{0343C6E3-1CC9-4622-826C-63989EE7A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171700"/>
            <a:ext cx="409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main-arrow-0-head">
            <a:extLst xmlns:a="http://schemas.openxmlformats.org/drawingml/2006/main">
              <a:ext uri="{FF2B5EF4-FFF2-40B4-BE49-F238E27FC236}">
                <a16:creationId xmlns:a16="http://schemas.microsoft.com/office/drawing/2014/main" id="{DFF3D4A9-87B1-4496-8207-AAD3F1F18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2095500"/>
            <a:ext cx="171450" cy="1905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C9D8E8"/>
          </a:solidFill>
          <a:ln xmlns:a="http://schemas.openxmlformats.org/drawingml/2006/main" w="0">
            <a:solidFill>
              <a:srgbClr val="C9D8E8"/>
            </a:solidFill>
            <a:prstDash val="solid"/>
          </a:ln>
        </p:spPr>
      </p:sp>
      <p:sp>
        <p:nvSpPr>
          <p:cNvPr id="6" name="main-arrow-1-shaft">
            <a:extLst xmlns:a="http://schemas.openxmlformats.org/drawingml/2006/main">
              <a:ext uri="{FF2B5EF4-FFF2-40B4-BE49-F238E27FC236}">
                <a16:creationId xmlns:a16="http://schemas.microsoft.com/office/drawing/2014/main" id="{9DC2AC5F-8CEC-4A71-BBC6-020BF021A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171700"/>
            <a:ext cx="409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main-arrow-1-head">
            <a:extLst xmlns:a="http://schemas.openxmlformats.org/drawingml/2006/main">
              <a:ext uri="{FF2B5EF4-FFF2-40B4-BE49-F238E27FC236}">
                <a16:creationId xmlns:a16="http://schemas.microsoft.com/office/drawing/2014/main" id="{6F51BCE8-05A5-443B-A446-2E32CA4A0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095500"/>
            <a:ext cx="171450" cy="1905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C9D8E8"/>
          </a:solidFill>
          <a:ln xmlns:a="http://schemas.openxmlformats.org/drawingml/2006/main" w="0">
            <a:solidFill>
              <a:srgbClr val="C9D8E8"/>
            </a:solidFill>
            <a:prstDash val="solid"/>
          </a:ln>
        </p:spPr>
      </p:sp>
      <p:sp>
        <p:nvSpPr>
          <p:cNvPr id="8" name="main-arrow-2-shaft">
            <a:extLst xmlns:a="http://schemas.openxmlformats.org/drawingml/2006/main">
              <a:ext uri="{FF2B5EF4-FFF2-40B4-BE49-F238E27FC236}">
                <a16:creationId xmlns:a16="http://schemas.microsoft.com/office/drawing/2014/main" id="{D448AC6D-1BF3-4F8C-9F64-B30427EFE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171700"/>
            <a:ext cx="409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main-arrow-2-head">
            <a:extLst xmlns:a="http://schemas.openxmlformats.org/drawingml/2006/main">
              <a:ext uri="{FF2B5EF4-FFF2-40B4-BE49-F238E27FC236}">
                <a16:creationId xmlns:a16="http://schemas.microsoft.com/office/drawing/2014/main" id="{7A5C8F61-9482-45CC-975E-7632D1035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2095500"/>
            <a:ext cx="171450" cy="1905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C9D8E8"/>
          </a:solidFill>
          <a:ln xmlns:a="http://schemas.openxmlformats.org/drawingml/2006/main" w="0">
            <a:solidFill>
              <a:srgbClr val="C9D8E8"/>
            </a:solidFill>
            <a:prstDash val="solid"/>
          </a:ln>
        </p:spPr>
      </p:sp>
      <p:sp>
        <p:nvSpPr>
          <p:cNvPr id="10" name="main-arrow-3-shaft">
            <a:extLst xmlns:a="http://schemas.openxmlformats.org/drawingml/2006/main">
              <a:ext uri="{FF2B5EF4-FFF2-40B4-BE49-F238E27FC236}">
                <a16:creationId xmlns:a16="http://schemas.microsoft.com/office/drawing/2014/main" id="{60DC3274-53BF-421A-A712-798D20660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2171700"/>
            <a:ext cx="409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main-arrow-3-head">
            <a:extLst xmlns:a="http://schemas.openxmlformats.org/drawingml/2006/main">
              <a:ext uri="{FF2B5EF4-FFF2-40B4-BE49-F238E27FC236}">
                <a16:creationId xmlns:a16="http://schemas.microsoft.com/office/drawing/2014/main" id="{328A6304-2DCB-4976-8F81-92C8EF0CB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095500"/>
            <a:ext cx="171450" cy="1905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C9D8E8"/>
          </a:solidFill>
          <a:ln xmlns:a="http://schemas.openxmlformats.org/drawingml/2006/main" w="0">
            <a:solidFill>
              <a:srgbClr val="C9D8E8"/>
            </a:solidFill>
            <a:prstDash val="solid"/>
          </a:ln>
        </p:spPr>
      </p:sp>
      <p:sp>
        <p:nvSpPr>
          <p:cNvPr id="12" name="main-arrow-4-shaft">
            <a:extLst xmlns:a="http://schemas.openxmlformats.org/drawingml/2006/main">
              <a:ext uri="{FF2B5EF4-FFF2-40B4-BE49-F238E27FC236}">
                <a16:creationId xmlns:a16="http://schemas.microsoft.com/office/drawing/2014/main" id="{32C00D71-1DE2-4BFE-B697-3F8608636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171700"/>
            <a:ext cx="409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main-arrow-4-head">
            <a:extLst xmlns:a="http://schemas.openxmlformats.org/drawingml/2006/main">
              <a:ext uri="{FF2B5EF4-FFF2-40B4-BE49-F238E27FC236}">
                <a16:creationId xmlns:a16="http://schemas.microsoft.com/office/drawing/2014/main" id="{3DD9223F-CE04-441C-95CD-AF47A72A9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095500"/>
            <a:ext cx="171450" cy="1905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C9D8E8"/>
          </a:solidFill>
          <a:ln xmlns:a="http://schemas.openxmlformats.org/drawingml/2006/main" w="0">
            <a:solidFill>
              <a:srgbClr val="C9D8E8"/>
            </a:solidFill>
            <a:prstDash val="solid"/>
          </a:ln>
        </p:spPr>
      </p:sp>
      <p:sp>
        <p:nvSpPr>
          <p:cNvPr id="14" name="main-68-box">
            <a:extLst xmlns:a="http://schemas.openxmlformats.org/drawingml/2006/main">
              <a:ext uri="{FF2B5EF4-FFF2-40B4-BE49-F238E27FC236}">
                <a16:creationId xmlns:a16="http://schemas.microsoft.com/office/drawing/2014/main" id="{99D34DE8-5724-47F2-9484-59CBBFE13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43075"/>
            <a:ext cx="12573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9050">
            <a:solidFill>
              <a:srgbClr val="168BFF"/>
            </a:solidFill>
            <a:prstDash val="solid"/>
          </a:ln>
        </p:spPr>
      </p:sp>
      <p:sp>
        <p:nvSpPr>
          <p:cNvPr id="15" name="main-68-accent">
            <a:extLst xmlns:a="http://schemas.openxmlformats.org/drawingml/2006/main">
              <a:ext uri="{FF2B5EF4-FFF2-40B4-BE49-F238E27FC236}">
                <a16:creationId xmlns:a16="http://schemas.microsoft.com/office/drawing/2014/main" id="{A4CE1B14-C9B3-4C95-881C-6A81FEB2F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43075"/>
            <a:ext cx="666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main-68-label">
            <a:extLst xmlns:a="http://schemas.openxmlformats.org/drawingml/2006/main">
              <a:ext uri="{FF2B5EF4-FFF2-40B4-BE49-F238E27FC236}">
                <a16:creationId xmlns:a16="http://schemas.microsoft.com/office/drawing/2014/main" id="{D5D8D789-93B5-40E4-9092-C52ACF525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857375"/>
            <a:ext cx="990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0233B"/>
                </a:solidFill>
              </a:defRPr>
            </a:pPr>
            <a:r>
              <a:rPr sz="1350" b="1">
                <a:solidFill>
                  <a:srgbClr val="10233B"/>
                </a:solidFill>
              </a:rPr>
              <a:t>Usuario RR. HH.</a:t>
            </a:r>
          </a:p>
        </p:txBody>
      </p:sp>
      <p:sp>
        <p:nvSpPr>
          <p:cNvPr id="17" name="main-235-box">
            <a:extLst xmlns:a="http://schemas.openxmlformats.org/drawingml/2006/main">
              <a:ext uri="{FF2B5EF4-FFF2-40B4-BE49-F238E27FC236}">
                <a16:creationId xmlns:a16="http://schemas.microsoft.com/office/drawing/2014/main" id="{DEE95D35-4A16-45AF-8AC2-C3FD0FACB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1743075"/>
            <a:ext cx="12573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9050">
            <a:solidFill>
              <a:srgbClr val="37D5FF"/>
            </a:solidFill>
            <a:prstDash val="solid"/>
          </a:ln>
        </p:spPr>
      </p:sp>
      <p:sp>
        <p:nvSpPr>
          <p:cNvPr id="18" name="main-235-accent">
            <a:extLst xmlns:a="http://schemas.openxmlformats.org/drawingml/2006/main">
              <a:ext uri="{FF2B5EF4-FFF2-40B4-BE49-F238E27FC236}">
                <a16:creationId xmlns:a16="http://schemas.microsoft.com/office/drawing/2014/main" id="{BA36331C-7097-445F-AE47-89C89FA7B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1743075"/>
            <a:ext cx="666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D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main-235-label">
            <a:extLst xmlns:a="http://schemas.openxmlformats.org/drawingml/2006/main">
              <a:ext uri="{FF2B5EF4-FFF2-40B4-BE49-F238E27FC236}">
                <a16:creationId xmlns:a16="http://schemas.microsoft.com/office/drawing/2014/main" id="{C41B8B85-0D33-45DF-AC16-4A9643359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857375"/>
            <a:ext cx="990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0233B"/>
                </a:solidFill>
              </a:defRPr>
            </a:pPr>
            <a:r>
              <a:rPr sz="1350" b="1">
                <a:solidFill>
                  <a:srgbClr val="10233B"/>
                </a:solidFill>
              </a:rPr>
              <a:t>FastAPI web</a:t>
            </a:r>
          </a:p>
        </p:txBody>
      </p:sp>
      <p:sp>
        <p:nvSpPr>
          <p:cNvPr id="20" name="main-402-box">
            <a:extLst xmlns:a="http://schemas.openxmlformats.org/drawingml/2006/main">
              <a:ext uri="{FF2B5EF4-FFF2-40B4-BE49-F238E27FC236}">
                <a16:creationId xmlns:a16="http://schemas.microsoft.com/office/drawing/2014/main" id="{7417B6BE-679A-458A-B84D-BBCEE42DD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1743075"/>
            <a:ext cx="12573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9050">
            <a:solidFill>
              <a:srgbClr val="168BFF"/>
            </a:solidFill>
            <a:prstDash val="solid"/>
          </a:ln>
        </p:spPr>
      </p:sp>
      <p:sp>
        <p:nvSpPr>
          <p:cNvPr id="21" name="main-402-accent">
            <a:extLst xmlns:a="http://schemas.openxmlformats.org/drawingml/2006/main">
              <a:ext uri="{FF2B5EF4-FFF2-40B4-BE49-F238E27FC236}">
                <a16:creationId xmlns:a16="http://schemas.microsoft.com/office/drawing/2014/main" id="{C51FC818-9E2C-422E-A278-361A58CC3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1743075"/>
            <a:ext cx="666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main-402-label">
            <a:extLst xmlns:a="http://schemas.openxmlformats.org/drawingml/2006/main">
              <a:ext uri="{FF2B5EF4-FFF2-40B4-BE49-F238E27FC236}">
                <a16:creationId xmlns:a16="http://schemas.microsoft.com/office/drawing/2014/main" id="{B75A48ED-D784-4104-BDFE-298DC8E8A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1857375"/>
            <a:ext cx="990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0233B"/>
                </a:solidFill>
              </a:defRPr>
            </a:pPr>
            <a:r>
              <a:rPr sz="1350" b="1">
                <a:solidFill>
                  <a:srgbClr val="10233B"/>
                </a:solidFill>
              </a:rPr>
              <a:t>AG-01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10233B"/>
                </a:solidFill>
              </a:defRPr>
            </a:pPr>
            <a:r>
              <a:rPr sz="1350" b="1">
                <a:solidFill>
                  <a:srgbClr val="10233B"/>
                </a:solidFill>
              </a:rPr>
              <a:t>Deduplicación</a:t>
            </a:r>
          </a:p>
        </p:txBody>
      </p:sp>
      <p:sp>
        <p:nvSpPr>
          <p:cNvPr id="23" name="main-569-box">
            <a:extLst xmlns:a="http://schemas.openxmlformats.org/drawingml/2006/main">
              <a:ext uri="{FF2B5EF4-FFF2-40B4-BE49-F238E27FC236}">
                <a16:creationId xmlns:a16="http://schemas.microsoft.com/office/drawing/2014/main" id="{281E65D2-1A92-48B4-B228-41DD38796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1743075"/>
            <a:ext cx="12573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9050">
            <a:solidFill>
              <a:srgbClr val="FFC857"/>
            </a:solidFill>
            <a:prstDash val="solid"/>
          </a:ln>
        </p:spPr>
      </p:sp>
      <p:sp>
        <p:nvSpPr>
          <p:cNvPr id="24" name="main-569-accent">
            <a:extLst xmlns:a="http://schemas.openxmlformats.org/drawingml/2006/main">
              <a:ext uri="{FF2B5EF4-FFF2-40B4-BE49-F238E27FC236}">
                <a16:creationId xmlns:a16="http://schemas.microsoft.com/office/drawing/2014/main" id="{F92EF6A1-13DF-462B-B9B4-361724F0D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1743075"/>
            <a:ext cx="666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main-569-label">
            <a:extLst xmlns:a="http://schemas.openxmlformats.org/drawingml/2006/main">
              <a:ext uri="{FF2B5EF4-FFF2-40B4-BE49-F238E27FC236}">
                <a16:creationId xmlns:a16="http://schemas.microsoft.com/office/drawing/2014/main" id="{97DB6724-444E-40A7-AA85-DCD075DBE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1857375"/>
            <a:ext cx="990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0233B"/>
                </a:solidFill>
              </a:defRPr>
            </a:pPr>
            <a:r>
              <a:rPr sz="1350" b="1">
                <a:solidFill>
                  <a:srgbClr val="10233B"/>
                </a:solidFill>
              </a:rPr>
              <a:t>AG-02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10233B"/>
                </a:solidFill>
              </a:defRPr>
            </a:pPr>
            <a:r>
              <a:rPr sz="1350" b="1">
                <a:solidFill>
                  <a:srgbClr val="10233B"/>
                </a:solidFill>
              </a:rPr>
              <a:t>Lector de CV</a:t>
            </a:r>
          </a:p>
        </p:txBody>
      </p:sp>
      <p:sp>
        <p:nvSpPr>
          <p:cNvPr id="26" name="main-736-box">
            <a:extLst xmlns:a="http://schemas.openxmlformats.org/drawingml/2006/main">
              <a:ext uri="{FF2B5EF4-FFF2-40B4-BE49-F238E27FC236}">
                <a16:creationId xmlns:a16="http://schemas.microsoft.com/office/drawing/2014/main" id="{B3005F0B-469B-4887-B2FA-8E8C20558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743075"/>
            <a:ext cx="12573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9050">
            <a:solidFill>
              <a:srgbClr val="168BFF"/>
            </a:solidFill>
            <a:prstDash val="solid"/>
          </a:ln>
        </p:spPr>
      </p:sp>
      <p:sp>
        <p:nvSpPr>
          <p:cNvPr id="27" name="main-736-accent">
            <a:extLst xmlns:a="http://schemas.openxmlformats.org/drawingml/2006/main">
              <a:ext uri="{FF2B5EF4-FFF2-40B4-BE49-F238E27FC236}">
                <a16:creationId xmlns:a16="http://schemas.microsoft.com/office/drawing/2014/main" id="{369C21AD-1B70-4DFF-AB93-B935D8925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743075"/>
            <a:ext cx="666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main-736-label">
            <a:extLst xmlns:a="http://schemas.openxmlformats.org/drawingml/2006/main">
              <a:ext uri="{FF2B5EF4-FFF2-40B4-BE49-F238E27FC236}">
                <a16:creationId xmlns:a16="http://schemas.microsoft.com/office/drawing/2014/main" id="{F0E7D1FE-20DA-4DF0-AA3E-3DF6BA4B5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1857375"/>
            <a:ext cx="990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0233B"/>
                </a:solidFill>
              </a:defRPr>
            </a:pPr>
            <a:r>
              <a:rPr sz="1350" b="1">
                <a:solidFill>
                  <a:srgbClr val="10233B"/>
                </a:solidFill>
              </a:rPr>
              <a:t>AG-03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10233B"/>
                </a:solidFill>
              </a:defRPr>
            </a:pPr>
            <a:r>
              <a:rPr sz="1350" b="1">
                <a:solidFill>
                  <a:srgbClr val="10233B"/>
                </a:solidFill>
              </a:rPr>
              <a:t>Evaluador</a:t>
            </a:r>
          </a:p>
        </p:txBody>
      </p:sp>
      <p:sp>
        <p:nvSpPr>
          <p:cNvPr id="29" name="main-903-box">
            <a:extLst xmlns:a="http://schemas.openxmlformats.org/drawingml/2006/main">
              <a:ext uri="{FF2B5EF4-FFF2-40B4-BE49-F238E27FC236}">
                <a16:creationId xmlns:a16="http://schemas.microsoft.com/office/drawing/2014/main" id="{6B15A4EA-E369-4276-9024-DC6633BD0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1743075"/>
            <a:ext cx="12573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9050">
            <a:solidFill>
              <a:srgbClr val="26D99A"/>
            </a:solidFill>
            <a:prstDash val="solid"/>
          </a:ln>
        </p:spPr>
      </p:sp>
      <p:sp>
        <p:nvSpPr>
          <p:cNvPr id="30" name="main-903-accent">
            <a:extLst xmlns:a="http://schemas.openxmlformats.org/drawingml/2006/main">
              <a:ext uri="{FF2B5EF4-FFF2-40B4-BE49-F238E27FC236}">
                <a16:creationId xmlns:a16="http://schemas.microsoft.com/office/drawing/2014/main" id="{20CCEBAE-68E7-4C57-BA8D-9F2A8A8FC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1743075"/>
            <a:ext cx="666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D9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main-903-label">
            <a:extLst xmlns:a="http://schemas.openxmlformats.org/drawingml/2006/main">
              <a:ext uri="{FF2B5EF4-FFF2-40B4-BE49-F238E27FC236}">
                <a16:creationId xmlns:a16="http://schemas.microsoft.com/office/drawing/2014/main" id="{BD376BDB-7461-4577-B103-A8721544A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857375"/>
            <a:ext cx="990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0233B"/>
                </a:solidFill>
              </a:defRPr>
            </a:pPr>
            <a:r>
              <a:rPr sz="1350" b="1">
                <a:solidFill>
                  <a:srgbClr val="10233B"/>
                </a:solidFill>
              </a:rPr>
              <a:t>Revisión humana</a:t>
            </a:r>
          </a:p>
        </p:txBody>
      </p:sp>
      <p:sp>
        <p:nvSpPr>
          <p:cNvPr id="32" name="analysis-graph-title">
            <a:extLst xmlns:a="http://schemas.openxmlformats.org/drawingml/2006/main">
              <a:ext uri="{FF2B5EF4-FFF2-40B4-BE49-F238E27FC236}">
                <a16:creationId xmlns:a16="http://schemas.microsoft.com/office/drawing/2014/main" id="{258FD46E-B2AC-4B84-BDC9-D6C985DEB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19425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68BFF"/>
                </a:solidFill>
              </a:defRPr>
            </a:pPr>
            <a:r>
              <a:rPr sz="1200" b="1">
                <a:solidFill>
                  <a:srgbClr val="168BFF"/>
                </a:solidFill>
              </a:rPr>
              <a:t>FLUJO DE EVALUACIÓN</a:t>
            </a:r>
          </a:p>
        </p:txBody>
      </p:sp>
      <p:sp>
        <p:nvSpPr>
          <p:cNvPr id="33" name="analysis-graph-rule">
            <a:extLst xmlns:a="http://schemas.openxmlformats.org/drawingml/2006/main">
              <a:ext uri="{FF2B5EF4-FFF2-40B4-BE49-F238E27FC236}">
                <a16:creationId xmlns:a16="http://schemas.microsoft.com/office/drawing/2014/main" id="{15E138C2-1EE2-41B4-9B65-4010DE10D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33750"/>
            <a:ext cx="50006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analysis-num-1">
            <a:extLst xmlns:a="http://schemas.openxmlformats.org/drawingml/2006/main">
              <a:ext uri="{FF2B5EF4-FFF2-40B4-BE49-F238E27FC236}">
                <a16:creationId xmlns:a16="http://schemas.microsoft.com/office/drawing/2014/main" id="{D6AA8C5E-2506-4AF0-99EC-FAA76EA93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52825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68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analysis-n-1">
            <a:extLst xmlns:a="http://schemas.openxmlformats.org/drawingml/2006/main">
              <a:ext uri="{FF2B5EF4-FFF2-40B4-BE49-F238E27FC236}">
                <a16:creationId xmlns:a16="http://schemas.microsoft.com/office/drawing/2014/main" id="{FC0A7916-D0FB-40BC-A9A2-AAF483E97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29025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7FBFF"/>
                </a:solidFill>
              </a:defRPr>
            </a:pPr>
            <a:r>
              <a:rPr sz="1275" b="1">
                <a:solidFill>
                  <a:srgbClr val="F7FBFF"/>
                </a:solidFill>
              </a:rPr>
              <a:t>1</a:t>
            </a:r>
          </a:p>
        </p:txBody>
      </p:sp>
      <p:sp>
        <p:nvSpPr>
          <p:cNvPr id="36" name="analysis-label-1">
            <a:extLst xmlns:a="http://schemas.openxmlformats.org/drawingml/2006/main">
              <a:ext uri="{FF2B5EF4-FFF2-40B4-BE49-F238E27FC236}">
                <a16:creationId xmlns:a16="http://schemas.microsoft.com/office/drawing/2014/main" id="{2123E11B-2359-49B5-BD7D-5F2C0F6B9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09975"/>
            <a:ext cx="2238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0233B"/>
                </a:solidFill>
              </a:defRPr>
            </a:pPr>
            <a:r>
              <a:rPr sz="1425" b="1">
                <a:solidFill>
                  <a:srgbClr val="10233B"/>
                </a:solidFill>
              </a:rPr>
              <a:t>Registrar postulación</a:t>
            </a:r>
          </a:p>
        </p:txBody>
      </p:sp>
      <p:sp>
        <p:nvSpPr>
          <p:cNvPr id="37" name="analysis-spine-1">
            <a:extLst xmlns:a="http://schemas.openxmlformats.org/drawingml/2006/main">
              <a:ext uri="{FF2B5EF4-FFF2-40B4-BE49-F238E27FC236}">
                <a16:creationId xmlns:a16="http://schemas.microsoft.com/office/drawing/2014/main" id="{E9351FB2-7C0D-4902-8C0A-B63BFCC2A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3914775"/>
            <a:ext cx="38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analysis-num-2">
            <a:extLst xmlns:a="http://schemas.openxmlformats.org/drawingml/2006/main">
              <a:ext uri="{FF2B5EF4-FFF2-40B4-BE49-F238E27FC236}">
                <a16:creationId xmlns:a16="http://schemas.microsoft.com/office/drawing/2014/main" id="{0F7FD5C5-C362-4223-8296-589E4D7E2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76700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68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analysis-n-2">
            <a:extLst xmlns:a="http://schemas.openxmlformats.org/drawingml/2006/main">
              <a:ext uri="{FF2B5EF4-FFF2-40B4-BE49-F238E27FC236}">
                <a16:creationId xmlns:a16="http://schemas.microsoft.com/office/drawing/2014/main" id="{695E1D41-C811-48B6-9F65-CECFFE955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5290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7FBFF"/>
                </a:solidFill>
              </a:defRPr>
            </a:pPr>
            <a:r>
              <a:rPr sz="1275" b="1">
                <a:solidFill>
                  <a:srgbClr val="F7FBFF"/>
                </a:solidFill>
              </a:rPr>
              <a:t>2</a:t>
            </a:r>
          </a:p>
        </p:txBody>
      </p:sp>
      <p:sp>
        <p:nvSpPr>
          <p:cNvPr id="40" name="analysis-label-2">
            <a:extLst xmlns:a="http://schemas.openxmlformats.org/drawingml/2006/main">
              <a:ext uri="{FF2B5EF4-FFF2-40B4-BE49-F238E27FC236}">
                <a16:creationId xmlns:a16="http://schemas.microsoft.com/office/drawing/2014/main" id="{13923232-2E74-41FA-8221-5A1364A81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133850"/>
            <a:ext cx="2238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0233B"/>
                </a:solidFill>
              </a:defRPr>
            </a:pPr>
            <a:r>
              <a:rPr sz="1425" b="1">
                <a:solidFill>
                  <a:srgbClr val="10233B"/>
                </a:solidFill>
              </a:rPr>
              <a:t>Almacenar CV</a:t>
            </a:r>
          </a:p>
        </p:txBody>
      </p:sp>
      <p:sp>
        <p:nvSpPr>
          <p:cNvPr id="41" name="analysis-spine-2">
            <a:extLst xmlns:a="http://schemas.openxmlformats.org/drawingml/2006/main">
              <a:ext uri="{FF2B5EF4-FFF2-40B4-BE49-F238E27FC236}">
                <a16:creationId xmlns:a16="http://schemas.microsoft.com/office/drawing/2014/main" id="{CFE77B61-8638-4954-AB1A-8033B2F52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38650"/>
            <a:ext cx="38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analysis-num-3">
            <a:extLst xmlns:a="http://schemas.openxmlformats.org/drawingml/2006/main">
              <a:ext uri="{FF2B5EF4-FFF2-40B4-BE49-F238E27FC236}">
                <a16:creationId xmlns:a16="http://schemas.microsoft.com/office/drawing/2014/main" id="{A5F13C74-FE83-41A0-831E-3A6A47EE7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00575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68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analysis-n-3">
            <a:extLst xmlns:a="http://schemas.openxmlformats.org/drawingml/2006/main">
              <a:ext uri="{FF2B5EF4-FFF2-40B4-BE49-F238E27FC236}">
                <a16:creationId xmlns:a16="http://schemas.microsoft.com/office/drawing/2014/main" id="{6A0F8476-255F-4748-9114-AF24C2B8D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76775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7FBFF"/>
                </a:solidFill>
              </a:defRPr>
            </a:pPr>
            <a:r>
              <a:rPr sz="1275" b="1">
                <a:solidFill>
                  <a:srgbClr val="F7FBFF"/>
                </a:solidFill>
              </a:rPr>
              <a:t>3</a:t>
            </a:r>
          </a:p>
        </p:txBody>
      </p:sp>
      <p:sp>
        <p:nvSpPr>
          <p:cNvPr id="44" name="analysis-label-3">
            <a:extLst xmlns:a="http://schemas.openxmlformats.org/drawingml/2006/main">
              <a:ext uri="{FF2B5EF4-FFF2-40B4-BE49-F238E27FC236}">
                <a16:creationId xmlns:a16="http://schemas.microsoft.com/office/drawing/2014/main" id="{748A09A1-2EE3-4AA3-BA1B-0350BDB42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657725"/>
            <a:ext cx="2238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0233B"/>
                </a:solidFill>
              </a:defRPr>
            </a:pPr>
            <a:r>
              <a:rPr sz="1425" b="1">
                <a:solidFill>
                  <a:srgbClr val="10233B"/>
                </a:solidFill>
              </a:rPr>
              <a:t>Extraer evidencia</a:t>
            </a:r>
          </a:p>
        </p:txBody>
      </p:sp>
      <p:sp>
        <p:nvSpPr>
          <p:cNvPr id="45" name="analysis-spine-3">
            <a:extLst xmlns:a="http://schemas.openxmlformats.org/drawingml/2006/main">
              <a:ext uri="{FF2B5EF4-FFF2-40B4-BE49-F238E27FC236}">
                <a16:creationId xmlns:a16="http://schemas.microsoft.com/office/drawing/2014/main" id="{8EBAF491-DCB8-4149-9B05-D320520ED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962525"/>
            <a:ext cx="38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analysis-num-4">
            <a:extLst xmlns:a="http://schemas.openxmlformats.org/drawingml/2006/main">
              <a:ext uri="{FF2B5EF4-FFF2-40B4-BE49-F238E27FC236}">
                <a16:creationId xmlns:a16="http://schemas.microsoft.com/office/drawing/2014/main" id="{BBC806A2-A418-4408-A343-1A175C262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24450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68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analysis-n-4">
            <a:extLst xmlns:a="http://schemas.openxmlformats.org/drawingml/2006/main">
              <a:ext uri="{FF2B5EF4-FFF2-40B4-BE49-F238E27FC236}">
                <a16:creationId xmlns:a16="http://schemas.microsoft.com/office/drawing/2014/main" id="{741F60FB-E6A0-455B-9FCE-68F6BF700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0065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7FBFF"/>
                </a:solidFill>
              </a:defRPr>
            </a:pPr>
            <a:r>
              <a:rPr sz="1275" b="1">
                <a:solidFill>
                  <a:srgbClr val="F7FBFF"/>
                </a:solidFill>
              </a:rPr>
              <a:t>4</a:t>
            </a:r>
          </a:p>
        </p:txBody>
      </p:sp>
      <p:sp>
        <p:nvSpPr>
          <p:cNvPr id="48" name="analysis-label-4">
            <a:extLst xmlns:a="http://schemas.openxmlformats.org/drawingml/2006/main">
              <a:ext uri="{FF2B5EF4-FFF2-40B4-BE49-F238E27FC236}">
                <a16:creationId xmlns:a16="http://schemas.microsoft.com/office/drawing/2014/main" id="{97C8A61F-3894-40BB-B1B7-D9730282D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181600"/>
            <a:ext cx="2238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0233B"/>
                </a:solidFill>
              </a:defRPr>
            </a:pPr>
            <a:r>
              <a:rPr sz="1425" b="1">
                <a:solidFill>
                  <a:srgbClr val="10233B"/>
                </a:solidFill>
              </a:rPr>
              <a:t>Evaluar requisitos</a:t>
            </a:r>
          </a:p>
        </p:txBody>
      </p:sp>
      <p:sp>
        <p:nvSpPr>
          <p:cNvPr id="49" name="rag-title">
            <a:extLst xmlns:a="http://schemas.openxmlformats.org/drawingml/2006/main">
              <a:ext uri="{FF2B5EF4-FFF2-40B4-BE49-F238E27FC236}">
                <a16:creationId xmlns:a16="http://schemas.microsoft.com/office/drawing/2014/main" id="{B209EE9D-EDC2-4B87-85BE-6F964EA65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019425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6D99A"/>
                </a:solidFill>
              </a:defRPr>
            </a:pPr>
            <a:r>
              <a:rPr sz="1200" b="1">
                <a:solidFill>
                  <a:srgbClr val="26D99A"/>
                </a:solidFill>
              </a:rPr>
              <a:t>CONTROL Y TRAZABILIDAD</a:t>
            </a:r>
          </a:p>
        </p:txBody>
      </p:sp>
      <p:sp>
        <p:nvSpPr>
          <p:cNvPr id="50" name="rag-rule">
            <a:extLst xmlns:a="http://schemas.openxmlformats.org/drawingml/2006/main">
              <a:ext uri="{FF2B5EF4-FFF2-40B4-BE49-F238E27FC236}">
                <a16:creationId xmlns:a16="http://schemas.microsoft.com/office/drawing/2014/main" id="{7BC75B4F-D5D1-43D5-AAAC-B9B27ABD7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333750"/>
            <a:ext cx="4933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D9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rag-flow">
            <a:extLst xmlns:a="http://schemas.openxmlformats.org/drawingml/2006/main">
              <a:ext uri="{FF2B5EF4-FFF2-40B4-BE49-F238E27FC236}">
                <a16:creationId xmlns:a16="http://schemas.microsoft.com/office/drawing/2014/main" id="{A20D0F07-C3C6-4BAF-A001-AFA07B010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562350"/>
            <a:ext cx="504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233B"/>
                </a:solidFill>
              </a:defRPr>
            </a:pPr>
            <a:r>
              <a:rPr sz="1350" b="1">
                <a:solidFill>
                  <a:srgbClr val="10233B"/>
                </a:solidFill>
              </a:rPr>
              <a:t>AG-04 registra historial y auditoría</a:t>
            </a:r>
          </a:p>
        </p:txBody>
      </p:sp>
      <p:sp>
        <p:nvSpPr>
          <p:cNvPr id="52" name="rag-decision">
            <a:extLst xmlns:a="http://schemas.openxmlformats.org/drawingml/2006/main">
              <a:ext uri="{FF2B5EF4-FFF2-40B4-BE49-F238E27FC236}">
                <a16:creationId xmlns:a16="http://schemas.microsoft.com/office/drawing/2014/main" id="{7E689009-2AFA-403F-85D1-0EB639205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67175"/>
            <a:ext cx="49339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EF8F5"/>
          </a:solidFill>
          <a:ln xmlns:a="http://schemas.openxmlformats.org/drawingml/2006/main" w="19050">
            <a:solidFill>
              <a:srgbClr val="26D99A"/>
            </a:solidFill>
            <a:prstDash val="solid"/>
          </a:ln>
        </p:spPr>
      </p:sp>
      <p:sp>
        <p:nvSpPr>
          <p:cNvPr id="53" name="rag-question">
            <a:extLst xmlns:a="http://schemas.openxmlformats.org/drawingml/2006/main">
              <a:ext uri="{FF2B5EF4-FFF2-40B4-BE49-F238E27FC236}">
                <a16:creationId xmlns:a16="http://schemas.microsoft.com/office/drawing/2014/main" id="{3CC5284F-564E-43F2-B497-55E67947B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229100"/>
            <a:ext cx="4552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0233B"/>
                </a:solidFill>
              </a:defRPr>
            </a:pPr>
            <a:r>
              <a:rPr sz="1500" b="1">
                <a:solidFill>
                  <a:srgbClr val="10233B"/>
                </a:solidFill>
              </a:rPr>
              <a:t>¿Existe evidencia suficiente?</a:t>
            </a:r>
          </a:p>
        </p:txBody>
      </p:sp>
      <p:sp>
        <p:nvSpPr>
          <p:cNvPr id="54" name="rag-outcomes">
            <a:extLst xmlns:a="http://schemas.openxmlformats.org/drawingml/2006/main">
              <a:ext uri="{FF2B5EF4-FFF2-40B4-BE49-F238E27FC236}">
                <a16:creationId xmlns:a16="http://schemas.microsoft.com/office/drawing/2014/main" id="{44CB3FB5-839B-4C88-BEF9-378897F89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533900"/>
            <a:ext cx="4629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5B6F87"/>
                </a:solidFill>
              </a:defRPr>
            </a:pPr>
            <a:r>
              <a:rPr sz="1125" b="1">
                <a:solidFill>
                  <a:srgbClr val="5B6F87"/>
                </a:solidFill>
              </a:rPr>
              <a:t>Sí: presenta recomendación</a:t>
            </a:r>
          </a:p>
          <a:p xmlns:a="http://schemas.openxmlformats.org/drawingml/2006/main">
            <a:pPr algn="ctr">
              <a:buNone/>
              <a:defRPr sz="1125" b="1">
                <a:solidFill>
                  <a:srgbClr val="5B6F87"/>
                </a:solidFill>
              </a:defRPr>
            </a:pPr>
            <a:r>
              <a:rPr sz="1125" b="1">
                <a:solidFill>
                  <a:srgbClr val="5B6F87"/>
                </a:solidFill>
              </a:rPr>
              <a:t>No: solicita revisión</a:t>
            </a:r>
          </a:p>
        </p:txBody>
      </p:sp>
      <p:sp>
        <p:nvSpPr>
          <p:cNvPr id="55" name="rag-vars">
            <a:extLst xmlns:a="http://schemas.openxmlformats.org/drawingml/2006/main">
              <a:ext uri="{FF2B5EF4-FFF2-40B4-BE49-F238E27FC236}">
                <a16:creationId xmlns:a16="http://schemas.microsoft.com/office/drawing/2014/main" id="{6EBE05AB-B3AE-4AA7-8C38-9A26DE1D1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010150"/>
            <a:ext cx="4933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68BFF"/>
                </a:solidFill>
              </a:defRPr>
            </a:pPr>
            <a:r>
              <a:rPr sz="1275" b="1">
                <a:solidFill>
                  <a:srgbClr val="168BFF"/>
                </a:solidFill>
              </a:rPr>
              <a:t>AG-05 controla proveedores, lotes y exclusiones</a:t>
            </a:r>
          </a:p>
        </p:txBody>
      </p:sp>
      <p:sp>
        <p:nvSpPr>
          <p:cNvPr id="56" name="outputs-band">
            <a:extLst xmlns:a="http://schemas.openxmlformats.org/drawingml/2006/main">
              <a:ext uri="{FF2B5EF4-FFF2-40B4-BE49-F238E27FC236}">
                <a16:creationId xmlns:a16="http://schemas.microsoft.com/office/drawing/2014/main" id="{FFA8AB34-05F6-496F-8E3F-6FA7ABE2B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57850"/>
            <a:ext cx="10401300" cy="523875"/>
          </a:xfrm>
          <a:prstGeom xmlns:a="http://schemas.openxmlformats.org/drawingml/2006/main" prst="roundRect">
            <a:avLst>
              <a:gd name="adj" fmla="val 21818"/>
            </a:avLst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outputs-band-text">
            <a:extLst xmlns:a="http://schemas.openxmlformats.org/drawingml/2006/main">
              <a:ext uri="{FF2B5EF4-FFF2-40B4-BE49-F238E27FC236}">
                <a16:creationId xmlns:a16="http://schemas.microsoft.com/office/drawing/2014/main" id="{1C2DA79E-7885-49AF-93B1-07524EC1E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5819775"/>
            <a:ext cx="10077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7FBFF"/>
                </a:solidFill>
              </a:defRPr>
            </a:pPr>
            <a:r>
              <a:rPr sz="1275" b="1">
                <a:solidFill>
                  <a:srgbClr val="F7FBFF"/>
                </a:solidFill>
              </a:rPr>
              <a:t>Candidato  ·  Vacante  ·  Postulación  ·  Documento  ·  Evaluación  ·  Revisión  ·  Auditoría</a:t>
            </a:r>
          </a:p>
        </p:txBody>
      </p:sp>
      <p:sp>
        <p:nvSpPr>
          <p:cNvPr id="58" name="footer-4">
            <a:extLst xmlns:a="http://schemas.openxmlformats.org/drawingml/2006/main">
              <a:ext uri="{FF2B5EF4-FFF2-40B4-BE49-F238E27FC236}">
                <a16:creationId xmlns:a16="http://schemas.microsoft.com/office/drawing/2014/main" id="{989EB472-25CB-4069-B6A9-313B62D37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24625"/>
            <a:ext cx="323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5B6F87"/>
                </a:solidFill>
              </a:defRPr>
            </a:pPr>
            <a:r>
              <a:rPr sz="825" b="1">
                <a:solidFill>
                  <a:srgbClr val="5B6F87"/>
                </a:solidFill>
              </a:rPr>
              <a:t>TALENTIA  |  ATS ASISTIDO PARA TCS</a:t>
            </a:r>
          </a:p>
        </p:txBody>
      </p:sp>
      <p:sp>
        <p:nvSpPr>
          <p:cNvPr id="59" name="page-4">
            <a:extLst xmlns:a="http://schemas.openxmlformats.org/drawingml/2006/main">
              <a:ext uri="{FF2B5EF4-FFF2-40B4-BE49-F238E27FC236}">
                <a16:creationId xmlns:a16="http://schemas.microsoft.com/office/drawing/2014/main" id="{7E2A90C1-F13D-4156-BD73-322F3DB3E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5B6F87"/>
                </a:solidFill>
              </a:defRPr>
            </a:pPr>
            <a:r>
              <a:rPr sz="975" b="1">
                <a:solidFill>
                  <a:srgbClr val="5B6F87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65998064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04 · Evidencia-kicker">
            <a:extLst xmlns:a="http://schemas.openxmlformats.org/drawingml/2006/main">
              <a:ext uri="{FF2B5EF4-FFF2-40B4-BE49-F238E27FC236}">
                <a16:creationId xmlns:a16="http://schemas.microsoft.com/office/drawing/2014/main" id="{F51792FA-BD02-4BB6-A6A8-2E9D06CBC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3375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68BFF"/>
                </a:solidFill>
              </a:defRPr>
            </a:pPr>
            <a:r>
              <a:rPr sz="1200" b="1">
                <a:solidFill>
                  <a:srgbClr val="168BFF"/>
                </a:solidFill>
              </a:rPr>
              <a:t>04 · EVIDENCIA</a:t>
            </a:r>
          </a:p>
        </p:txBody>
      </p:sp>
      <p:sp>
        <p:nvSpPr>
          <p:cNvPr id="2" name="04 · Evidencia-heading">
            <a:extLst xmlns:a="http://schemas.openxmlformats.org/drawingml/2006/main">
              <a:ext uri="{FF2B5EF4-FFF2-40B4-BE49-F238E27FC236}">
                <a16:creationId xmlns:a16="http://schemas.microsoft.com/office/drawing/2014/main" id="{B9D38A7E-823F-4F47-BC81-807FA2F71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817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233B"/>
                </a:solidFill>
              </a:defRPr>
            </a:pPr>
            <a:r>
              <a:rPr sz="2850" b="1">
                <a:solidFill>
                  <a:srgbClr val="10233B"/>
                </a:solidFill>
              </a:rPr>
              <a:t>El piloto cuenta con controles técnicos verificables</a:t>
            </a:r>
          </a:p>
        </p:txBody>
      </p:sp>
      <p:sp>
        <p:nvSpPr>
          <p:cNvPr id="3" name="04 · Evidencia-rule">
            <a:extLst xmlns:a="http://schemas.openxmlformats.org/drawingml/2006/main">
              <a:ext uri="{FF2B5EF4-FFF2-40B4-BE49-F238E27FC236}">
                <a16:creationId xmlns:a16="http://schemas.microsoft.com/office/drawing/2014/main" id="{60BE233A-D455-4071-9170-242764A38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19200"/>
            <a:ext cx="704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hot-analysis-frame">
            <a:extLst xmlns:a="http://schemas.openxmlformats.org/drawingml/2006/main">
              <a:ext uri="{FF2B5EF4-FFF2-40B4-BE49-F238E27FC236}">
                <a16:creationId xmlns:a16="http://schemas.microsoft.com/office/drawing/2014/main" id="{0EF29BF5-5A3D-499A-AAEA-2729A2470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90675"/>
            <a:ext cx="3219450" cy="1971675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F2F7FC"/>
          </a:solidFill>
          <a:ln xmlns:a="http://schemas.openxmlformats.org/drawingml/2006/main" w="19050">
            <a:solidFill>
              <a:srgbClr val="C9D8E8"/>
            </a:solidFill>
            <a:prstDash val="solid"/>
          </a:ln>
        </p:spPr>
      </p:sp>
      <p:sp>
        <p:nvSpPr>
          <p:cNvPr id="5" name="shot-analysis-top">
            <a:extLst xmlns:a="http://schemas.openxmlformats.org/drawingml/2006/main">
              <a:ext uri="{FF2B5EF4-FFF2-40B4-BE49-F238E27FC236}">
                <a16:creationId xmlns:a16="http://schemas.microsoft.com/office/drawing/2014/main" id="{A30CE4E5-0471-4C42-A572-839EF9DF7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24025"/>
            <a:ext cx="2952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hot-analysis-camera">
            <a:extLst xmlns:a="http://schemas.openxmlformats.org/drawingml/2006/main">
              <a:ext uri="{FF2B5EF4-FFF2-40B4-BE49-F238E27FC236}">
                <a16:creationId xmlns:a16="http://schemas.microsoft.com/office/drawing/2014/main" id="{142426CA-EFA4-44DE-A159-1D03BEC65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2243138"/>
            <a:ext cx="342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168BFF"/>
                </a:solidFill>
              </a:defRPr>
            </a:pPr>
            <a:r>
              <a:rPr sz="2100" b="1">
                <a:solidFill>
                  <a:srgbClr val="168BFF"/>
                </a:solidFill>
              </a:rPr>
              <a:t/>
            </a:r>
          </a:p>
        </p:txBody>
      </p:sp>
      <p:sp>
        <p:nvSpPr>
          <p:cNvPr id="7" name="shot-analysis-label">
            <a:extLst xmlns:a="http://schemas.openxmlformats.org/drawingml/2006/main">
              <a:ext uri="{FF2B5EF4-FFF2-40B4-BE49-F238E27FC236}">
                <a16:creationId xmlns:a16="http://schemas.microsoft.com/office/drawing/2014/main" id="{41C31D13-9D93-40E0-97E7-C1D9CF8AE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52713"/>
            <a:ext cx="2876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700" b="1">
                <a:solidFill>
                  <a:srgbClr val="0B1F33"/>
                </a:solidFill>
              </a:defRPr>
            </a:pPr>
            <a:r>
              <a:rPr sz="2700" b="1">
                <a:solidFill>
                  <a:srgbClr val="0B1F33"/>
                </a:solidFill>
              </a:rPr>
              <a:t>98</a:t>
            </a:r>
          </a:p>
        </p:txBody>
      </p:sp>
      <p:sp>
        <p:nvSpPr>
          <p:cNvPr id="8" name="shot-analysis-replace">
            <a:extLst xmlns:a="http://schemas.openxmlformats.org/drawingml/2006/main">
              <a:ext uri="{FF2B5EF4-FFF2-40B4-BE49-F238E27FC236}">
                <a16:creationId xmlns:a16="http://schemas.microsoft.com/office/drawing/2014/main" id="{4F556725-0227-444B-86BE-8CE05CCE8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67075"/>
            <a:ext cx="2876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5B6F87"/>
                </a:solidFill>
              </a:defRPr>
            </a:pPr>
            <a:r>
              <a:rPr sz="750" b="1">
                <a:solidFill>
                  <a:srgbClr val="5B6F87"/>
                </a:solidFill>
              </a:rPr>
              <a:t>PRUEBAS AUTOMATIZADAS</a:t>
            </a:r>
          </a:p>
        </p:txBody>
      </p:sp>
      <p:sp>
        <p:nvSpPr>
          <p:cNvPr id="9" name="shot-dashboard-frame">
            <a:extLst xmlns:a="http://schemas.openxmlformats.org/drawingml/2006/main">
              <a:ext uri="{FF2B5EF4-FFF2-40B4-BE49-F238E27FC236}">
                <a16:creationId xmlns:a16="http://schemas.microsoft.com/office/drawing/2014/main" id="{87D9FBD4-83D2-43C4-AC19-A0A1580DB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1590675"/>
            <a:ext cx="3219450" cy="1971675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F2F7FC"/>
          </a:solidFill>
          <a:ln xmlns:a="http://schemas.openxmlformats.org/drawingml/2006/main" w="19050">
            <a:solidFill>
              <a:srgbClr val="C9D8E8"/>
            </a:solidFill>
            <a:prstDash val="solid"/>
          </a:ln>
        </p:spPr>
      </p:sp>
      <p:sp>
        <p:nvSpPr>
          <p:cNvPr id="10" name="shot-dashboard-top">
            <a:extLst xmlns:a="http://schemas.openxmlformats.org/drawingml/2006/main">
              <a:ext uri="{FF2B5EF4-FFF2-40B4-BE49-F238E27FC236}">
                <a16:creationId xmlns:a16="http://schemas.microsoft.com/office/drawing/2014/main" id="{E364631B-2C43-4717-8FC9-67C2EA594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724025"/>
            <a:ext cx="2952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hot-dashboard-camera">
            <a:extLst xmlns:a="http://schemas.openxmlformats.org/drawingml/2006/main">
              <a:ext uri="{FF2B5EF4-FFF2-40B4-BE49-F238E27FC236}">
                <a16:creationId xmlns:a16="http://schemas.microsoft.com/office/drawing/2014/main" id="{B3CDAC37-5F0B-4E36-B6AE-DC9A5D6D4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243138"/>
            <a:ext cx="342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168BFF"/>
                </a:solidFill>
              </a:defRPr>
            </a:pPr>
            <a:r>
              <a:rPr sz="2100" b="1">
                <a:solidFill>
                  <a:srgbClr val="168BFF"/>
                </a:solidFill>
              </a:rPr>
              <a:t/>
            </a:r>
          </a:p>
        </p:txBody>
      </p:sp>
      <p:sp>
        <p:nvSpPr>
          <p:cNvPr id="12" name="shot-dashboard-label">
            <a:extLst xmlns:a="http://schemas.openxmlformats.org/drawingml/2006/main">
              <a:ext uri="{FF2B5EF4-FFF2-40B4-BE49-F238E27FC236}">
                <a16:creationId xmlns:a16="http://schemas.microsoft.com/office/drawing/2014/main" id="{785F2129-7E72-44F5-A1C9-A3F674E93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652713"/>
            <a:ext cx="2876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700" b="1">
                <a:solidFill>
                  <a:srgbClr val="0B1F33"/>
                </a:solidFill>
              </a:defRPr>
            </a:pPr>
            <a:r>
              <a:rPr sz="2700" b="1">
                <a:solidFill>
                  <a:srgbClr val="0B1F33"/>
                </a:solidFill>
              </a:rPr>
              <a:t>353</a:t>
            </a:r>
          </a:p>
        </p:txBody>
      </p:sp>
      <p:sp>
        <p:nvSpPr>
          <p:cNvPr id="13" name="shot-dashboard-replace">
            <a:extLst xmlns:a="http://schemas.openxmlformats.org/drawingml/2006/main">
              <a:ext uri="{FF2B5EF4-FFF2-40B4-BE49-F238E27FC236}">
                <a16:creationId xmlns:a16="http://schemas.microsoft.com/office/drawing/2014/main" id="{98B2D9F5-6794-4D86-B436-29D27F712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267075"/>
            <a:ext cx="2876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5B6F87"/>
                </a:solidFill>
              </a:defRPr>
            </a:pPr>
            <a:r>
              <a:rPr sz="750" b="1">
                <a:solidFill>
                  <a:srgbClr val="5B6F87"/>
                </a:solidFill>
              </a:rPr>
              <a:t>ARCHIVOS ESCANEADOS</a:t>
            </a:r>
          </a:p>
        </p:txBody>
      </p:sp>
      <p:sp>
        <p:nvSpPr>
          <p:cNvPr id="14" name="shot-rag-frame">
            <a:extLst xmlns:a="http://schemas.openxmlformats.org/drawingml/2006/main">
              <a:ext uri="{FF2B5EF4-FFF2-40B4-BE49-F238E27FC236}">
                <a16:creationId xmlns:a16="http://schemas.microsoft.com/office/drawing/2014/main" id="{FB27C7A6-3E31-485F-B3D3-FB98F2180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590675"/>
            <a:ext cx="3219450" cy="1971675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F2F7FC"/>
          </a:solidFill>
          <a:ln xmlns:a="http://schemas.openxmlformats.org/drawingml/2006/main" w="19050">
            <a:solidFill>
              <a:srgbClr val="C9D8E8"/>
            </a:solidFill>
            <a:prstDash val="solid"/>
          </a:ln>
        </p:spPr>
      </p:sp>
      <p:sp>
        <p:nvSpPr>
          <p:cNvPr id="15" name="shot-rag-top">
            <a:extLst xmlns:a="http://schemas.openxmlformats.org/drawingml/2006/main">
              <a:ext uri="{FF2B5EF4-FFF2-40B4-BE49-F238E27FC236}">
                <a16:creationId xmlns:a16="http://schemas.microsoft.com/office/drawing/2014/main" id="{8B674B5B-E76A-4679-87B0-24443AA82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724025"/>
            <a:ext cx="2952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shot-rag-camera">
            <a:extLst xmlns:a="http://schemas.openxmlformats.org/drawingml/2006/main">
              <a:ext uri="{FF2B5EF4-FFF2-40B4-BE49-F238E27FC236}">
                <a16:creationId xmlns:a16="http://schemas.microsoft.com/office/drawing/2014/main" id="{9C2FD71E-0160-4EB4-8C85-6BF73C565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2243138"/>
            <a:ext cx="342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168BFF"/>
                </a:solidFill>
              </a:defRPr>
            </a:pPr>
            <a:r>
              <a:rPr sz="2100" b="1">
                <a:solidFill>
                  <a:srgbClr val="168BFF"/>
                </a:solidFill>
              </a:rPr>
              <a:t/>
            </a:r>
          </a:p>
        </p:txBody>
      </p:sp>
      <p:sp>
        <p:nvSpPr>
          <p:cNvPr id="17" name="shot-rag-label">
            <a:extLst xmlns:a="http://schemas.openxmlformats.org/drawingml/2006/main">
              <a:ext uri="{FF2B5EF4-FFF2-40B4-BE49-F238E27FC236}">
                <a16:creationId xmlns:a16="http://schemas.microsoft.com/office/drawing/2014/main" id="{60B67D4A-A2A5-4AB6-83C2-5ACD4F079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652713"/>
            <a:ext cx="2876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0B1F33"/>
                </a:solidFill>
              </a:defRPr>
            </a:pPr>
            <a:r>
              <a:rPr sz="2250" b="1">
                <a:solidFill>
                  <a:srgbClr val="0B1F33"/>
                </a:solidFill>
              </a:rPr>
              <a:t>20/20</a:t>
            </a:r>
          </a:p>
        </p:txBody>
      </p:sp>
      <p:sp>
        <p:nvSpPr>
          <p:cNvPr id="18" name="shot-rag-replace">
            <a:extLst xmlns:a="http://schemas.openxmlformats.org/drawingml/2006/main">
              <a:ext uri="{FF2B5EF4-FFF2-40B4-BE49-F238E27FC236}">
                <a16:creationId xmlns:a16="http://schemas.microsoft.com/office/drawing/2014/main" id="{669505FC-65A0-475E-841B-FD5F60141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267075"/>
            <a:ext cx="2876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5B6F87"/>
                </a:solidFill>
              </a:defRPr>
            </a:pPr>
            <a:r>
              <a:rPr sz="750" b="1">
                <a:solidFill>
                  <a:srgbClr val="5B6F87"/>
                </a:solidFill>
              </a:rPr>
              <a:t>SOLICITUDES HTTP EXITOSAS</a:t>
            </a:r>
          </a:p>
        </p:txBody>
      </p:sp>
      <p:sp>
        <p:nvSpPr>
          <p:cNvPr id="19" name="synthetic-label">
            <a:extLst xmlns:a="http://schemas.openxmlformats.org/drawingml/2006/main">
              <a:ext uri="{FF2B5EF4-FFF2-40B4-BE49-F238E27FC236}">
                <a16:creationId xmlns:a16="http://schemas.microsoft.com/office/drawing/2014/main" id="{F2818C47-9A4F-431A-A68B-E0BBE2832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43325"/>
            <a:ext cx="10896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68BFF"/>
                </a:solidFill>
              </a:defRPr>
            </a:pPr>
            <a:r>
              <a:rPr sz="975" b="1">
                <a:solidFill>
                  <a:srgbClr val="168BFF"/>
                </a:solidFill>
              </a:rPr>
              <a:t>PRUEBAS CON DATOS FICTICIOS. SIN INFORMACIÓN REAL DE CANDIDATOS.</a:t>
            </a:r>
          </a:p>
        </p:txBody>
      </p:sp>
      <p:sp>
        <p:nvSpPr>
          <p:cNvPr id="20" name="impact-head">
            <a:extLst xmlns:a="http://schemas.openxmlformats.org/drawingml/2006/main">
              <a:ext uri="{FF2B5EF4-FFF2-40B4-BE49-F238E27FC236}">
                <a16:creationId xmlns:a16="http://schemas.microsoft.com/office/drawing/2014/main" id="{75B50382-7D6E-4512-904D-E797898F5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481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6D99A"/>
                </a:solidFill>
              </a:defRPr>
            </a:pPr>
            <a:r>
              <a:rPr sz="1275" b="1">
                <a:solidFill>
                  <a:srgbClr val="26D99A"/>
                </a:solidFill>
              </a:rPr>
              <a:t>IMPACTO</a:t>
            </a:r>
          </a:p>
        </p:txBody>
      </p:sp>
      <p:sp>
        <p:nvSpPr>
          <p:cNvPr id="21" name="impact-copy">
            <a:extLst xmlns:a="http://schemas.openxmlformats.org/drawingml/2006/main">
              <a:ext uri="{FF2B5EF4-FFF2-40B4-BE49-F238E27FC236}">
                <a16:creationId xmlns:a16="http://schemas.microsoft.com/office/drawing/2014/main" id="{3BE8A3B6-97AF-47E9-8D04-EFEF2E37C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0"/>
            <a:ext cx="3143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233B"/>
                </a:solidFill>
              </a:defRPr>
            </a:pPr>
            <a:r>
              <a:rPr sz="1350" b="0">
                <a:solidFill>
                  <a:srgbClr val="10233B"/>
                </a:solidFill>
              </a:rPr>
              <a:t>Expediente central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0233B"/>
                </a:solidFill>
              </a:defRPr>
            </a:pPr>
            <a:r>
              <a:rPr sz="1350" b="0">
                <a:solidFill>
                  <a:srgbClr val="10233B"/>
                </a:solidFill>
              </a:rPr>
              <a:t>Evidencia por requisito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0233B"/>
                </a:solidFill>
              </a:defRPr>
            </a:pPr>
            <a:r>
              <a:rPr sz="1350" b="0">
                <a:solidFill>
                  <a:srgbClr val="10233B"/>
                </a:solidFill>
              </a:rPr>
              <a:t>Auditoría y control por roles</a:t>
            </a:r>
          </a:p>
        </p:txBody>
      </p:sp>
      <p:sp>
        <p:nvSpPr>
          <p:cNvPr id="22" name="closing-divider-1">
            <a:extLst xmlns:a="http://schemas.openxmlformats.org/drawingml/2006/main">
              <a:ext uri="{FF2B5EF4-FFF2-40B4-BE49-F238E27FC236}">
                <a16:creationId xmlns:a16="http://schemas.microsoft.com/office/drawing/2014/main" id="{1F71FF1C-7EED-4800-A1BC-6AFDC1CD4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238625"/>
            <a:ext cx="28575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learning-head">
            <a:extLst xmlns:a="http://schemas.openxmlformats.org/drawingml/2006/main">
              <a:ext uri="{FF2B5EF4-FFF2-40B4-BE49-F238E27FC236}">
                <a16:creationId xmlns:a16="http://schemas.microsoft.com/office/drawing/2014/main" id="{F91879A9-09C0-42AC-BD37-623EF38C1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2481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68BFF"/>
                </a:solidFill>
              </a:defRPr>
            </a:pPr>
            <a:r>
              <a:rPr sz="1275" b="1">
                <a:solidFill>
                  <a:srgbClr val="168BFF"/>
                </a:solidFill>
              </a:rPr>
              <a:t>APRENDIZAJES</a:t>
            </a:r>
          </a:p>
        </p:txBody>
      </p:sp>
      <p:sp>
        <p:nvSpPr>
          <p:cNvPr id="24" name="learning-copy">
            <a:extLst xmlns:a="http://schemas.openxmlformats.org/drawingml/2006/main">
              <a:ext uri="{FF2B5EF4-FFF2-40B4-BE49-F238E27FC236}">
                <a16:creationId xmlns:a16="http://schemas.microsoft.com/office/drawing/2014/main" id="{054CACE9-692D-4CD5-B6A7-9B186A708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572000"/>
            <a:ext cx="3143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233B"/>
                </a:solidFill>
              </a:defRPr>
            </a:pPr>
            <a:r>
              <a:rPr sz="1350" b="0">
                <a:solidFill>
                  <a:srgbClr val="10233B"/>
                </a:solidFill>
              </a:rPr>
              <a:t>Reglas determinísticas para identidad y control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0233B"/>
                </a:solidFill>
              </a:defRPr>
            </a:pPr>
            <a:r>
              <a:rPr sz="1350" b="0">
                <a:solidFill>
                  <a:srgbClr val="10233B"/>
                </a:solidFill>
              </a:rPr>
              <a:t>LangGraph solo donde aporta valor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0233B"/>
                </a:solidFill>
              </a:defRPr>
            </a:pPr>
            <a:r>
              <a:rPr sz="1350" b="0">
                <a:solidFill>
                  <a:srgbClr val="10233B"/>
                </a:solidFill>
              </a:rPr>
              <a:t>Fallback manual ante fallos</a:t>
            </a:r>
          </a:p>
        </p:txBody>
      </p:sp>
      <p:sp>
        <p:nvSpPr>
          <p:cNvPr id="25" name="closing-divider-2">
            <a:extLst xmlns:a="http://schemas.openxmlformats.org/drawingml/2006/main">
              <a:ext uri="{FF2B5EF4-FFF2-40B4-BE49-F238E27FC236}">
                <a16:creationId xmlns:a16="http://schemas.microsoft.com/office/drawing/2014/main" id="{CC76BA7C-9828-445D-B114-1ED6A4D02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238625"/>
            <a:ext cx="28575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next-head">
            <a:extLst xmlns:a="http://schemas.openxmlformats.org/drawingml/2006/main">
              <a:ext uri="{FF2B5EF4-FFF2-40B4-BE49-F238E27FC236}">
                <a16:creationId xmlns:a16="http://schemas.microsoft.com/office/drawing/2014/main" id="{BD95FB5A-5EBA-46C8-BC9D-8E62520A8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2481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C857"/>
                </a:solidFill>
              </a:defRPr>
            </a:pPr>
            <a:r>
              <a:rPr sz="1275" b="1">
                <a:solidFill>
                  <a:srgbClr val="FFC857"/>
                </a:solidFill>
              </a:rPr>
              <a:t>SIGUIENTE PASO</a:t>
            </a:r>
          </a:p>
        </p:txBody>
      </p:sp>
      <p:sp>
        <p:nvSpPr>
          <p:cNvPr id="27" name="next-copy">
            <a:extLst xmlns:a="http://schemas.openxmlformats.org/drawingml/2006/main">
              <a:ext uri="{FF2B5EF4-FFF2-40B4-BE49-F238E27FC236}">
                <a16:creationId xmlns:a16="http://schemas.microsoft.com/office/drawing/2014/main" id="{AD62AD1E-BB92-43E8-84F5-6C478F550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572000"/>
            <a:ext cx="32194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233B"/>
                </a:solidFill>
              </a:defRPr>
            </a:pPr>
            <a:r>
              <a:rPr sz="1350" b="0">
                <a:solidFill>
                  <a:srgbClr val="10233B"/>
                </a:solidFill>
              </a:rPr>
              <a:t>UAT con RR. HH. de TCS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0233B"/>
                </a:solidFill>
              </a:defRPr>
            </a:pPr>
            <a:r>
              <a:rPr sz="1350" b="0">
                <a:solidFill>
                  <a:srgbClr val="10233B"/>
                </a:solidFill>
              </a:rPr>
              <a:t>Decisiones de negocio pendientes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0233B"/>
                </a:solidFill>
              </a:defRPr>
            </a:pPr>
            <a:r>
              <a:rPr sz="1350" b="0">
                <a:solidFill>
                  <a:srgbClr val="10233B"/>
                </a:solidFill>
              </a:rPr>
              <a:t>Prueba de carga representativa</a:t>
            </a:r>
          </a:p>
        </p:txBody>
      </p:sp>
      <p:sp>
        <p:nvSpPr>
          <p:cNvPr id="28" name="closing-band">
            <a:extLst xmlns:a="http://schemas.openxmlformats.org/drawingml/2006/main">
              <a:ext uri="{FF2B5EF4-FFF2-40B4-BE49-F238E27FC236}">
                <a16:creationId xmlns:a16="http://schemas.microsoft.com/office/drawing/2014/main" id="{BA521DC4-EDA6-4596-B1EA-CAFA7F22D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76925"/>
            <a:ext cx="10896600" cy="428625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closing-claim">
            <a:extLst xmlns:a="http://schemas.openxmlformats.org/drawingml/2006/main">
              <a:ext uri="{FF2B5EF4-FFF2-40B4-BE49-F238E27FC236}">
                <a16:creationId xmlns:a16="http://schemas.microsoft.com/office/drawing/2014/main" id="{AC5EB3BD-0265-4EEB-9354-61F0359CD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5991225"/>
            <a:ext cx="104584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7FBFF"/>
                </a:solidFill>
              </a:defRPr>
            </a:pPr>
            <a:r>
              <a:rPr sz="1500" b="1">
                <a:solidFill>
                  <a:srgbClr val="F7FBFF"/>
                </a:solidFill>
              </a:rPr>
              <a:t>TalentIA conserva la decisión de selección en manos de RR. HH.</a:t>
            </a:r>
          </a:p>
        </p:txBody>
      </p:sp>
      <p:sp>
        <p:nvSpPr>
          <p:cNvPr id="30" name="footer-5">
            <a:extLst xmlns:a="http://schemas.openxmlformats.org/drawingml/2006/main">
              <a:ext uri="{FF2B5EF4-FFF2-40B4-BE49-F238E27FC236}">
                <a16:creationId xmlns:a16="http://schemas.microsoft.com/office/drawing/2014/main" id="{24D19DE3-4CB2-4E91-8986-83CAFCDCC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24625"/>
            <a:ext cx="323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5B6F87"/>
                </a:solidFill>
              </a:defRPr>
            </a:pPr>
            <a:r>
              <a:rPr sz="825" b="1">
                <a:solidFill>
                  <a:srgbClr val="5B6F87"/>
                </a:solidFill>
              </a:rPr>
              <a:t>TALENTIA  |  ATS ASISTIDO PARA TCS</a:t>
            </a:r>
          </a:p>
        </p:txBody>
      </p:sp>
      <p:sp>
        <p:nvSpPr>
          <p:cNvPr id="31" name="page-5">
            <a:extLst xmlns:a="http://schemas.openxmlformats.org/drawingml/2006/main">
              <a:ext uri="{FF2B5EF4-FFF2-40B4-BE49-F238E27FC236}">
                <a16:creationId xmlns:a16="http://schemas.microsoft.com/office/drawing/2014/main" id="{A95DF111-8BD3-4910-90A4-2CDC8F195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5B6F87"/>
                </a:solidFill>
              </a:defRPr>
            </a:pPr>
            <a:r>
              <a:rPr sz="975" b="1">
                <a:solidFill>
                  <a:srgbClr val="5B6F87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06326381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2026-09-14T15:52:15.6610000Z</dcterms:created>
  <dcterms:modified xsi:type="dcterms:W3CDTF">2026-09-14T15:52:15.6610000Z</dcterms:modified>
</coreProperties>
</file>