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dbee37bffc464c" /><Relationship Type="http://schemas.openxmlformats.org/officeDocument/2006/relationships/extended-properties" Target="/docProps/app.xml" Id="R70af9db1d5e54f5c" /><Relationship Type="http://schemas.openxmlformats.org/officeDocument/2006/relationships/officeDocument" Target="/ppt/presentation.xml" Id="R29d6716de39b44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97035a4b2d425b"/>
  </p:sldMasterIdLst>
  <p:notesMasterIdLst>
    <p:notesMasterId xmlns:r="http://schemas.openxmlformats.org/officeDocument/2006/relationships" r:id="Ra6efa20bbe504194"/>
  </p:notesMasterIdLst>
  <p:sldIdLst>
    <p:sldId xmlns:r="http://schemas.openxmlformats.org/officeDocument/2006/relationships" id="256" r:id="R9f2df3d311c94183"/>
    <p:sldId xmlns:r="http://schemas.openxmlformats.org/officeDocument/2006/relationships" id="257" r:id="R72d502d6fb6c4832"/>
    <p:sldId xmlns:r="http://schemas.openxmlformats.org/officeDocument/2006/relationships" id="258" r:id="R5a948577746845e2"/>
    <p:sldId xmlns:r="http://schemas.openxmlformats.org/officeDocument/2006/relationships" id="259" r:id="R625676a79ee748ab"/>
    <p:sldId xmlns:r="http://schemas.openxmlformats.org/officeDocument/2006/relationships" id="260" r:id="R6fc2f7d57fcc497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88dea7cbd742c6" /><Relationship Type="http://schemas.openxmlformats.org/officeDocument/2006/relationships/slideMaster" Target="/ppt/slideMasters/slideMaster1.xml" Id="Rec97035a4b2d425b" /><Relationship Type="http://schemas.openxmlformats.org/officeDocument/2006/relationships/notesMaster" Target="/ppt/notesMasters/notesMaster1.xml" Id="Ra6efa20bbe504194" /><Relationship Type="http://schemas.openxmlformats.org/officeDocument/2006/relationships/presProps" Target="/ppt/presProps.xml" Id="Rc36608a860744956" /><Relationship Type="http://schemas.openxmlformats.org/officeDocument/2006/relationships/viewProps" Target="/ppt/viewProps.xml" Id="R12f92df0ce234d3a" /><Relationship Type="http://schemas.openxmlformats.org/officeDocument/2006/relationships/tableStyles" Target="/ppt/tableStyles.xml" Id="Rdb7343445ef64aeb" /><Relationship Type="http://schemas.openxmlformats.org/officeDocument/2006/relationships/slide" Target="/ppt/slides/slide1.xml" Id="R9f2df3d311c94183" /><Relationship Type="http://schemas.openxmlformats.org/officeDocument/2006/relationships/slide" Target="/ppt/slides/slide2.xml" Id="R72d502d6fb6c4832" /><Relationship Type="http://schemas.openxmlformats.org/officeDocument/2006/relationships/slide" Target="/ppt/slides/slide3.xml" Id="R5a948577746845e2" /><Relationship Type="http://schemas.openxmlformats.org/officeDocument/2006/relationships/slide" Target="/ppt/slides/slide4.xml" Id="R625676a79ee748ab" /><Relationship Type="http://schemas.openxmlformats.org/officeDocument/2006/relationships/slide" Target="/ppt/slides/slide5.xml" Id="R6fc2f7d57fcc49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875690d60041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87d064e450434a" /><Relationship Type="http://schemas.openxmlformats.org/officeDocument/2006/relationships/notesMaster" Target="/ppt/notesMasters/notesMaster1.xml" Id="R2be9832b151047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90a24ac6b44a29" /><Relationship Type="http://schemas.openxmlformats.org/officeDocument/2006/relationships/notesMaster" Target="/ppt/notesMasters/notesMaster1.xml" Id="R80b97c2ed5474c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38aeebb1224303" /><Relationship Type="http://schemas.openxmlformats.org/officeDocument/2006/relationships/notesMaster" Target="/ppt/notesMasters/notesMaster1.xml" Id="Rf511fa68af724d6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0269723532d46b7" /><Relationship Type="http://schemas.openxmlformats.org/officeDocument/2006/relationships/notesMaster" Target="/ppt/notesMasters/notesMaster1.xml" Id="R5c1becc202dd427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9f1cf481c54a07" /><Relationship Type="http://schemas.openxmlformats.org/officeDocument/2006/relationships/notesMaster" Target="/ppt/notesMasters/notesMaster1.xml" Id="R0ca3127ce2474d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README.md y docs/architecture.md del repositorio TalentIA, commit base b0aa0b6.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Fuentes: README.md, docs/architecture.md, docs/security.md y MANUAL_USUARIO.md.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docs/architecture.md, src/talentia/ai/agents y src/talentia/ai/workflows/evaluation_graph.py. AG-01, AG-04 y AG-05 son determinísticos. AG-02 y AG-03 usan LangGraph de forma opcional y terminan en revisión humana.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specs/archive/032-cierre-operabilidad-rubrica/verification.md. Resultados verificados el 14 de septiembre de 2026: 98 pruebas, 353 archivos revisados, 20 éxitos, 0 errores, p95 95.461 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PENDIENTES_IMPLEMENTACION_GREENFIELD.md. Pendientes externos: UAT de RR. HH., decisiones de negocio aplicables, validación humana del benchmark, prueba de carga representativa y aprobación corporativa de despliegue.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b6c3140e2e42f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bb9208bc1c44c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457f7c22c645f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ccc066f337449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a85935a0f3444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63847a2659419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9267f732434c8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6c419f588f440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4e98be26e6476c" /><Relationship Type="http://schemas.openxmlformats.org/officeDocument/2006/relationships/image" Target="/ppt/media/image.png" Id="Rdbeb8d222977470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c6b0c898304062" /><Relationship Type="http://schemas.openxmlformats.org/officeDocument/2006/relationships/image" Target="/ppt/media/image2.png" Id="R0d51b83ad1dc471b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dbeb8d222977470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0d51b83ad1dc471b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dae24a87fe4855" /><Relationship Type="http://schemas.openxmlformats.org/officeDocument/2006/relationships/slideLayout" Target="/ppt/slideLayouts/slideLayout1.xml" Id="R3e23109522bc461f" /><Relationship Type="http://schemas.openxmlformats.org/officeDocument/2006/relationships/slideLayout" Target="/ppt/slideLayouts/slideLayout2.xml" Id="Re829fdcf1b904363" /><Relationship Type="http://schemas.openxmlformats.org/officeDocument/2006/relationships/slideLayout" Target="/ppt/slideLayouts/slideLayout3.xml" Id="R197317f70ddd4ff9" /><Relationship Type="http://schemas.openxmlformats.org/officeDocument/2006/relationships/slideLayout" Target="/ppt/slideLayouts/slideLayout4.xml" Id="R641c5c106047402f" /><Relationship Type="http://schemas.openxmlformats.org/officeDocument/2006/relationships/slideLayout" Target="/ppt/slideLayouts/slideLayout5.xml" Id="R85514171bff44011" /><Relationship Type="http://schemas.openxmlformats.org/officeDocument/2006/relationships/slideLayout" Target="/ppt/slideLayouts/slideLayout6.xml" Id="R482e6fcb5ede4612" /><Relationship Type="http://schemas.openxmlformats.org/officeDocument/2006/relationships/slideLayout" Target="/ppt/slideLayouts/slideLayout7.xml" Id="R01f59cb442b94ec4" /><Relationship Type="http://schemas.openxmlformats.org/officeDocument/2006/relationships/slideLayout" Target="/ppt/slideLayouts/slideLayout8.xml" Id="Rf49018f285844438" /><Relationship Type="http://schemas.openxmlformats.org/officeDocument/2006/relationships/slideLayout" Target="/ppt/slideLayouts/slideLayout9.xml" Id="Rb6a443c0815f4de7" /><Relationship Type="http://schemas.openxmlformats.org/officeDocument/2006/relationships/slideLayout" Target="/ppt/slideLayouts/slideLayout10.xml" Id="R8f80f2514c1a4f2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9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23109522bc461f"/>
    <p:sldLayoutId xmlns:r="http://schemas.openxmlformats.org/officeDocument/2006/relationships" id="2147483650" r:id="Re829fdcf1b904363"/>
    <p:sldLayoutId xmlns:r="http://schemas.openxmlformats.org/officeDocument/2006/relationships" id="2147483651" r:id="R197317f70ddd4ff9"/>
    <p:sldLayoutId xmlns:r="http://schemas.openxmlformats.org/officeDocument/2006/relationships" id="2147483652" r:id="R641c5c106047402f"/>
    <p:sldLayoutId xmlns:r="http://schemas.openxmlformats.org/officeDocument/2006/relationships" id="2147483653" r:id="R85514171bff44011"/>
    <p:sldLayoutId xmlns:r="http://schemas.openxmlformats.org/officeDocument/2006/relationships" id="2147483654" r:id="R482e6fcb5ede4612"/>
    <p:sldLayoutId xmlns:r="http://schemas.openxmlformats.org/officeDocument/2006/relationships" id="2147483655" r:id="R01f59cb442b94ec4"/>
    <p:sldLayoutId xmlns:r="http://schemas.openxmlformats.org/officeDocument/2006/relationships" id="2147483656" r:id="Rf49018f285844438"/>
    <p:sldLayoutId xmlns:r="http://schemas.openxmlformats.org/officeDocument/2006/relationships" id="2147483657" r:id="Rb6a443c0815f4de7"/>
    <p:sldLayoutId xmlns:r="http://schemas.openxmlformats.org/officeDocument/2006/relationships" id="2147483658" r:id="R8f80f2514c1a4f28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9a9796d18e4586" /><Relationship Type="http://schemas.openxmlformats.org/officeDocument/2006/relationships/notesSlide" Target="/ppt/notesSlides/notesSlide1.xml" Id="R8ef5bcfdcdfb45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18296476654d34" /><Relationship Type="http://schemas.openxmlformats.org/officeDocument/2006/relationships/notesSlide" Target="/ppt/notesSlides/notesSlide2.xml" Id="R7c1df0a241424bc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3be9a4ad174995" /><Relationship Type="http://schemas.openxmlformats.org/officeDocument/2006/relationships/notesSlide" Target="/ppt/notesSlides/notesSlide3.xml" Id="R697aff51c87f4f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26355529714d16" /><Relationship Type="http://schemas.openxmlformats.org/officeDocument/2006/relationships/notesSlide" Target="/ppt/notesSlides/notesSlide4.xml" Id="Rf77ed15feebd43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21c939baa4404a" /><Relationship Type="http://schemas.openxmlformats.org/officeDocument/2006/relationships/notesSlide" Target="/ppt/notesSlides/notesSlide5.xml" Id="R2ca90fb8cd204513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C3666"/>
            </a:gs>
            <a:gs pos="100000">
              <a:srgbClr val="061C39"/>
            </a:gs>
          </a:gsLst>
          <a:lin ang="135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0F24658D-7578-8E1B-095D-2634178665B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84537" y="1850746"/>
            <a:ext cx="9448800" cy="2491490"/>
          </a:xfrm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</a:pPr>
            <a:r>
              <a:rPr sz="6400" b="1">
                <a:solidFill>
                  <a:srgbClr val="EDF5FE"/>
                </a:solidFill>
              </a:rPr>
              <a:t>Talent</a:t>
            </a:r>
            <a:r>
              <a:rPr sz="6400" b="1">
                <a:solidFill>
                  <a:srgbClr val="00ABFF"/>
                </a:solidFill>
              </a:rPr>
              <a:t>IA</a:t>
            </a:r>
            <a:r>
              <a:rPr sz="4000" b="1">
                <a:solidFill>
                  <a:srgbClr val="EDF5FE"/>
                </a:solidFill>
              </a:rPr>
              <a:t>
ATS asistido y gobernado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9CFCDDD1-6B62-D648-FCD8-F519A8EBFE0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5170707"/>
            <a:ext cx="3568700" cy="647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AFC4DA"/>
                </a:solidFill>
              </a:rPr>
              <a:t>Presentación ejecutiva</a:t>
            </a:r>
          </a:p>
          <a:p xmlns:a="http://schemas.openxmlformats.org/drawingml/2006/main">
            <a:r>
              <a:rPr sz="1800" b="1">
                <a:solidFill>
                  <a:srgbClr val="EDF5FE"/>
                </a:solidFill>
              </a:rPr>
              <a:t>Septiembre de 2026</a:t>
            </a:r>
          </a:p>
        </p:txBody>
      </p:sp>
      <p:sp>
        <p:nvSpPr>
          <p:cNvPr id="2" name="Subtitle 4">
            <a:extLst xmlns:a="http://schemas.openxmlformats.org/drawingml/2006/main">
              <a:ext uri="{FF2B5EF4-FFF2-40B4-BE49-F238E27FC236}">
                <a16:creationId xmlns:a16="http://schemas.microsoft.com/office/drawing/2014/main" id="{7DE36FE5-F5E6-DBA2-7BCD-BDE05B2A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789" y="5170707"/>
            <a:ext cx="35687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400">
                <a:solidFill>
                  <a:srgbClr val="AFC4DA"/>
                </a:solidFill>
              </a:rPr>
              <a:t>Principio rector</a:t>
            </a:r>
          </a:p>
          <a:p xmlns:a="http://schemas.openxmlformats.org/drawingml/2006/main">
            <a:r>
              <a:rPr sz="1800" b="1">
                <a:solidFill>
                  <a:srgbClr val="EDF5FE"/>
                </a:solidFill>
              </a:rPr>
              <a:t>Decisión final humana</a:t>
            </a:r>
          </a:p>
        </p:txBody>
      </p:sp>
      <p:sp>
        <p:nvSpPr>
          <p:cNvPr id="3" name="Subtitle 4">
            <a:extLst xmlns:a="http://schemas.openxmlformats.org/drawingml/2006/main">
              <a:ext uri="{FF2B5EF4-FFF2-40B4-BE49-F238E27FC236}">
                <a16:creationId xmlns:a16="http://schemas.microsoft.com/office/drawing/2014/main" id="{1855E0C5-A5E4-590B-0D77-15A6F24D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8228" y="623595"/>
            <a:ext cx="319923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  <a:defRPr sz="1800" b="1">
                <a:solidFill>
                  <a:srgbClr val="AFC4DA"/>
                </a:solidFill>
              </a:defRPr>
            </a:pPr>
            <a:r>
              <a:rPr sz="1800" b="1">
                <a:solidFill>
                  <a:srgbClr val="AFC4DA"/>
                </a:solidFill>
                <a:latin typeface="Helvetica Neue"/>
                <a:ea typeface="Helvetica Neue"/>
                <a:cs typeface="Helvetica Neue"/>
              </a:rPr>
              <a:t>PILOTO 2026</a:t>
            </a:r>
          </a:p>
        </p:txBody>
      </p:sp>
      <p:sp>
        <p:nvSpPr>
          <p:cNvPr id="7" name="Subtitle 4">
            <a:extLst xmlns:a="http://schemas.openxmlformats.org/drawingml/2006/main">
              <a:ext uri="{FF2B5EF4-FFF2-40B4-BE49-F238E27FC236}">
                <a16:creationId xmlns:a16="http://schemas.microsoft.com/office/drawing/2014/main" id="{5794C0B2-4912-64A0-21CF-60B66252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623595"/>
            <a:ext cx="55372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AFC4DA"/>
                </a:solidFill>
              </a:defRPr>
            </a:pPr>
            <a:r>
              <a:rPr sz="1800" b="1">
                <a:solidFill>
                  <a:srgbClr val="AFC4DA"/>
                </a:solidFill>
                <a:latin typeface="Helvetica Neue"/>
                <a:ea typeface="Helvetica Neue"/>
                <a:cs typeface="Helvetica Neue"/>
              </a:rPr>
              <a:t>TCS · RECURSOS HUMANOS</a:t>
            </a:r>
          </a:p>
        </p:txBody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569A4E2A-EE1B-4F4B-B6EA-B7C443D7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37" y="374574"/>
            <a:ext cx="11422926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7A8CA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198694720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8B77B614-E3C4-8964-0877-92800631D4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344009"/>
            <a:ext cx="11404599" cy="5957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8284F"/>
                </a:solidFill>
              </a:defRPr>
            </a:pPr>
            <a:r>
              <a:rPr sz="3600" b="1">
                <a:solidFill>
                  <a:srgbClr val="08284F"/>
                </a:solidFill>
              </a:rPr>
              <a:t>El reto y la propuesta TalentIA</a:t>
            </a: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4774D92-572F-796B-CFA0-75F5BDE3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0439ECA-9193-112F-E7E6-326447CE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38100" tIns="38100" rIns="38100" bIns="38100" anchor="ctr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95000"/>
              </a:lnSpc>
              <a:buNone/>
            </a:pPr>
            <a:r>
              <a:rPr sz="1900" b="1">
                <a:solidFill>
                  <a:srgbClr val="08284F"/>
                </a:solidFill>
              </a:rPr>
              <a:t>Duplicados</a:t>
            </a:r>
          </a:p>
          <a:p xmlns:a="http://schemas.openxmlformats.org/drawingml/2006/main">
            <a:pPr>
              <a:lnSpc>
                <a:spcPct val="95000"/>
              </a:lnSpc>
              <a:buNone/>
            </a:pPr>
            <a:r>
              <a:rPr sz="1700">
                <a:solidFill>
                  <a:srgbClr val="3D536B"/>
                </a:solidFill>
              </a:rPr>
              <a:t>Detecta coincidencias exactas o probables antes de crear otro registro.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ED27E76-B721-E464-2478-718E91A6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40DA34A0-E630-37E8-0332-0E57245D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38100" tIns="38100" rIns="38100" bIns="38100" anchor="ctr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95000"/>
              </a:lnSpc>
              <a:buNone/>
            </a:pPr>
            <a:r>
              <a:rPr sz="1900" b="1">
                <a:solidFill>
                  <a:srgbClr val="08284F"/>
                </a:solidFill>
              </a:rPr>
              <a:t>Datos dispersos</a:t>
            </a:r>
          </a:p>
          <a:p xmlns:a="http://schemas.openxmlformats.org/drawingml/2006/main">
            <a:pPr>
              <a:lnSpc>
                <a:spcPct val="95000"/>
              </a:lnSpc>
              <a:buNone/>
            </a:pPr>
            <a:r>
              <a:rPr sz="1700">
                <a:solidFill>
                  <a:srgbClr val="3D536B"/>
                </a:solidFill>
              </a:rPr>
              <a:t>Centraliza candidatos, vacantes, postulaciones y CV en un expediente.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F421FB3D-82DC-94B6-ADD3-99BB3C8E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22C651-AF0B-D7E1-E9EF-3F4BC1C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38100" tIns="38100" rIns="38100" bIns="38100" anchor="ctr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95000"/>
              </a:lnSpc>
              <a:buNone/>
            </a:pPr>
            <a:r>
              <a:rPr sz="1900" b="1">
                <a:solidFill>
                  <a:srgbClr val="08284F"/>
                </a:solidFill>
              </a:rPr>
              <a:t>Decisiones sensibles</a:t>
            </a:r>
          </a:p>
          <a:p xmlns:a="http://schemas.openxmlformats.org/drawingml/2006/main">
            <a:pPr>
              <a:lnSpc>
                <a:spcPct val="95000"/>
              </a:lnSpc>
              <a:buNone/>
            </a:pPr>
            <a:r>
              <a:rPr sz="1700">
                <a:solidFill>
                  <a:srgbClr val="3D536B"/>
                </a:solidFill>
              </a:rPr>
              <a:t>Exige revisión humana, permisos por rol y auditoría trazable.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EDA590ED-3B5F-06BC-B0E9-C6DC4E8B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B1BBBB3-DA5C-C3DF-7DD6-33AB7A85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38100" tIns="38100" rIns="38100" bIns="38100" anchor="ctr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95000"/>
              </a:lnSpc>
              <a:buNone/>
            </a:pPr>
            <a:r>
              <a:rPr sz="1900" b="1">
                <a:solidFill>
                  <a:srgbClr val="08284F"/>
                </a:solidFill>
              </a:rPr>
              <a:t>Evaluación opaca</a:t>
            </a:r>
          </a:p>
          <a:p xmlns:a="http://schemas.openxmlformats.org/drawingml/2006/main">
            <a:pPr>
              <a:lnSpc>
                <a:spcPct val="95000"/>
              </a:lnSpc>
              <a:buNone/>
            </a:pPr>
            <a:r>
              <a:rPr sz="1700">
                <a:solidFill>
                  <a:srgbClr val="3D536B"/>
                </a:solidFill>
              </a:rPr>
              <a:t>Explica cada requisito con evidencia, confianza y faltantes.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4E6B723-686B-D8DD-4DA5-3E62BDE4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95000"/>
              </a:lnSpc>
              <a:buNone/>
            </a:pPr>
            <a:r>
              <a:rPr sz="1400" b="1">
                <a:solidFill>
                  <a:srgbClr val="175CD4"/>
                </a:solidFill>
              </a:rPr>
              <a:t>PROPUESTA DE VALOR</a:t>
            </a:r>
          </a:p>
          <a:p xmlns:a="http://schemas.openxmlformats.org/drawingml/2006/main">
            <a:pPr>
              <a:lnSpc>
                <a:spcPct val="95000"/>
              </a:lnSpc>
              <a:buNone/>
            </a:pPr>
            <a:r>
              <a:rPr sz="1900">
                <a:solidFill>
                  <a:srgbClr val="3D536B"/>
                </a:solidFill>
              </a:rPr>
              <a:t>Un ATS único para ordenar el proceso, recuperar evidencia y conservar el control humano.</a:t>
            </a:r>
          </a:p>
        </p:txBody>
      </p:sp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C4B207BF-6BAB-0D91-F12C-1E6FFBCC420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E91A8"/>
                </a:solidFill>
              </a:defRPr>
            </a:pPr>
            <a:r>
              <a:rPr sz="1050">
                <a:solidFill>
                  <a:srgbClr val="7E91A8"/>
                </a:solidFill>
              </a:rPr>
              <a:t>TalentIA · piloto técnico</a:t>
            </a:r>
            <a:endParaRPr sz="1100"/>
          </a:p>
        </p:txBody>
      </p:sp>
      <p:sp>
        <p:nvSpPr>
          <p:cNvPr id="12" name="Slide Number Placeholder 11">
            <a:extLst xmlns:a="http://schemas.openxmlformats.org/drawingml/2006/main">
              <a:ext uri="{FF2B5EF4-FFF2-40B4-BE49-F238E27FC236}">
                <a16:creationId xmlns:a16="http://schemas.microsoft.com/office/drawing/2014/main" id="{24C9B83B-D496-749A-8CAB-E5D5829B608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/>
            </a:pPr>
            <a:fld id="{E2598689-54C9-18A7-3A19-ED76AA08988F}" type="slidenum">
              <a:rPr sz="1050"/>
              <a:t>2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76600024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0AD2B367-4B64-657F-20CC-D17632C47D9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E91A8"/>
                </a:solidFill>
              </a:defRPr>
            </a:pPr>
            <a:r>
              <a:rPr sz="1050">
                <a:solidFill>
                  <a:srgbClr val="7E91A8"/>
                </a:solidFill>
              </a:rPr>
              <a:t>TalentIA · piloto técnico</a:t>
            </a:r>
            <a:endParaRPr sz="1100"/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FD963F05-59C0-B501-D15E-3C6B8AAC1FB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/>
            </a:pPr>
            <a:fld id="{202359C0-8A7A-196E-DD58-8E6569619F09}" type="slidenum">
              <a:rPr sz="1050"/>
              <a:t>3</a:t>
            </a:fld>
            <a:endParaRPr sz="1100"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D802DC3F-F6C4-90E8-847D-BA0C2E4445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8284F"/>
                </a:solidFill>
              </a:defRPr>
            </a:pPr>
            <a:r>
              <a:rPr sz="3450" b="1">
                <a:solidFill>
                  <a:srgbClr val="08284F"/>
                </a:solidFill>
              </a:rPr>
              <a:t>Flujo gobernado de los cinco agentes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18323F9C-3DB1-9BB3-9462-18B6435C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92388"/>
            <a:ext cx="3568700" cy="1595154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052F45FF-C9C5-2664-7FF7-CFEC2973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381" y="2708524"/>
            <a:ext cx="2949339" cy="10935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38100" tIns="38100" rIns="38100" bIns="38100" anchor="ctr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95000"/>
              </a:lnSpc>
              <a:buNone/>
            </a:pPr>
            <a:r>
              <a:rPr sz="1650" b="1">
                <a:solidFill>
                  <a:srgbClr val="08284F"/>
                </a:solidFill>
              </a:rPr>
              <a:t>AG-01 Deduplicación</a:t>
            </a:r>
          </a:p>
          <a:p xmlns:a="http://schemas.openxmlformats.org/drawingml/2006/main">
            <a:pPr>
              <a:lnSpc>
                <a:spcPct val="95000"/>
              </a:lnSpc>
              <a:buNone/>
            </a:pPr>
            <a:r>
              <a:rPr sz="1450">
                <a:solidFill>
                  <a:srgbClr val="3D536B"/>
                </a:solidFill>
              </a:rPr>
              <a:t>Coincidencia exacta o probable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C3E867C1-C7DA-85C7-C8DC-55F132F2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75" y="2392388"/>
            <a:ext cx="3568700" cy="1595154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5C40FE43-DE8E-7C68-A6D4-F8D8AECE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56" y="2708523"/>
            <a:ext cx="2949339" cy="10935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38100" tIns="38100" rIns="38100" bIns="38100" anchor="ctr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95000"/>
              </a:lnSpc>
              <a:buNone/>
            </a:pPr>
            <a:r>
              <a:rPr sz="1650" b="1">
                <a:solidFill>
                  <a:srgbClr val="08284F"/>
                </a:solidFill>
              </a:rPr>
              <a:t>AG-04 Trazabilidad</a:t>
            </a:r>
          </a:p>
          <a:p xmlns:a="http://schemas.openxmlformats.org/drawingml/2006/main">
            <a:pPr>
              <a:lnSpc>
                <a:spcPct val="95000"/>
              </a:lnSpc>
              <a:buNone/>
            </a:pPr>
            <a:r>
              <a:rPr sz="1450">
                <a:solidFill>
                  <a:srgbClr val="3D536B"/>
                </a:solidFill>
              </a:rPr>
              <a:t>Ruta de existente y línea de tiempo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EA9CAD1D-ACB2-1454-6255-0DA0ECB8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38" y="2392388"/>
            <a:ext cx="3568700" cy="1595154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AECA4705-7C1E-A1DB-1156-729DDE0C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19" y="2708523"/>
            <a:ext cx="2949339" cy="10935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38100" tIns="38100" rIns="38100" bIns="38100" anchor="ctr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95000"/>
              </a:lnSpc>
              <a:buNone/>
            </a:pPr>
            <a:r>
              <a:rPr sz="1650" b="1">
                <a:solidFill>
                  <a:srgbClr val="08284F"/>
                </a:solidFill>
              </a:rPr>
              <a:t>AG-05 Exclusión</a:t>
            </a:r>
          </a:p>
          <a:p xmlns:a="http://schemas.openxmlformats.org/drawingml/2006/main">
            <a:pPr>
              <a:lnSpc>
                <a:spcPct val="95000"/>
              </a:lnSpc>
              <a:buNone/>
            </a:pPr>
            <a:r>
              <a:rPr sz="1450">
                <a:solidFill>
                  <a:srgbClr val="3D536B"/>
                </a:solidFill>
              </a:rPr>
              <a:t>Proveedor, lote y exportación segura</a:t>
            </a:r>
          </a:p>
        </p:txBody>
      </p:sp>
      <p:sp>
        <p:nvSpPr>
          <p:cNvPr id="57" name="Rounded Rectangle 56">
            <a:extLst xmlns:a="http://schemas.openxmlformats.org/drawingml/2006/main">
              <a:ext uri="{FF2B5EF4-FFF2-40B4-BE49-F238E27FC236}">
                <a16:creationId xmlns:a16="http://schemas.microsoft.com/office/drawing/2014/main" id="{AA9D6F9F-2033-B55E-020F-9D9CC87D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356100"/>
            <a:ext cx="3568700" cy="1595154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8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CD09C33D-5630-C27C-C1AE-F60A9FB8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381" y="4672236"/>
            <a:ext cx="2949339" cy="10935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38100" tIns="38100" rIns="38100" bIns="38100" anchor="ctr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95000"/>
              </a:lnSpc>
              <a:buNone/>
            </a:pPr>
            <a:r>
              <a:rPr sz="1650" b="1">
                <a:solidFill>
                  <a:srgbClr val="08284F"/>
                </a:solidFill>
              </a:rPr>
              <a:t>AG-02 Lector de CV</a:t>
            </a:r>
          </a:p>
          <a:p xmlns:a="http://schemas.openxmlformats.org/drawingml/2006/main">
            <a:pPr>
              <a:lnSpc>
                <a:spcPct val="95000"/>
              </a:lnSpc>
              <a:buNone/>
            </a:pPr>
            <a:r>
              <a:rPr sz="1450">
                <a:solidFill>
                  <a:srgbClr val="3D536B"/>
                </a:solidFill>
              </a:rPr>
              <a:t>Extracción local con evidencia</a:t>
            </a:r>
          </a:p>
        </p:txBody>
      </p:sp>
      <p:sp>
        <p:nvSpPr>
          <p:cNvPr id="59" name="Rounded Rectangle 58">
            <a:extLst xmlns:a="http://schemas.openxmlformats.org/drawingml/2006/main">
              <a:ext uri="{FF2B5EF4-FFF2-40B4-BE49-F238E27FC236}">
                <a16:creationId xmlns:a16="http://schemas.microsoft.com/office/drawing/2014/main" id="{601EDC4F-645B-5208-5A2D-CB854CDE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75" y="4356100"/>
            <a:ext cx="3568700" cy="1595154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0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3F013F15-10B5-454B-F71C-A4F07D11D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56" y="4672235"/>
            <a:ext cx="2949339" cy="10935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38100" tIns="38100" rIns="38100" bIns="38100" anchor="ctr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95000"/>
              </a:lnSpc>
              <a:buNone/>
            </a:pPr>
            <a:r>
              <a:rPr sz="1650" b="1">
                <a:solidFill>
                  <a:srgbClr val="08284F"/>
                </a:solidFill>
              </a:rPr>
              <a:t>AG-03 Evaluador</a:t>
            </a:r>
          </a:p>
          <a:p xmlns:a="http://schemas.openxmlformats.org/drawingml/2006/main">
            <a:pPr>
              <a:lnSpc>
                <a:spcPct val="95000"/>
              </a:lnSpc>
              <a:buNone/>
            </a:pPr>
            <a:r>
              <a:rPr sz="1450">
                <a:solidFill>
                  <a:srgbClr val="3D536B"/>
                </a:solidFill>
              </a:rPr>
              <a:t>Requisito, confianza y faltantes</a:t>
            </a:r>
          </a:p>
        </p:txBody>
      </p:sp>
      <p:sp>
        <p:nvSpPr>
          <p:cNvPr id="61" name="Rounded Rectangle 60">
            <a:extLst xmlns:a="http://schemas.openxmlformats.org/drawingml/2006/main">
              <a:ext uri="{FF2B5EF4-FFF2-40B4-BE49-F238E27FC236}">
                <a16:creationId xmlns:a16="http://schemas.microsoft.com/office/drawing/2014/main" id="{7A6CB05F-986E-7BF0-DBA3-6DBB7F45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38" y="4356100"/>
            <a:ext cx="3568700" cy="1595154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2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F756CED3-B055-A43F-881D-DD3AE0C4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19" y="4672235"/>
            <a:ext cx="2949339" cy="10935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38100" tIns="38100" rIns="38100" bIns="38100" anchor="ctr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95000"/>
              </a:lnSpc>
              <a:buNone/>
            </a:pPr>
            <a:r>
              <a:rPr sz="1650" b="1">
                <a:solidFill>
                  <a:srgbClr val="004142"/>
                </a:solidFill>
              </a:rPr>
              <a:t>Revisión humana</a:t>
            </a:r>
          </a:p>
          <a:p xmlns:a="http://schemas.openxmlformats.org/drawingml/2006/main">
            <a:pPr>
              <a:lnSpc>
                <a:spcPct val="95000"/>
              </a:lnSpc>
              <a:buNone/>
            </a:pPr>
            <a:r>
              <a:rPr sz="1450">
                <a:solidFill>
                  <a:srgbClr val="3D536B"/>
                </a:solidFill>
              </a:rPr>
              <a:t>La decisión nunca es automática</a:t>
            </a:r>
          </a:p>
        </p:txBody>
      </p:sp>
      <p:sp>
        <p:nvSpPr>
          <p:cNvPr id="66" name="Google Shape;558;p61">
            <a:extLst xmlns:a="http://schemas.openxmlformats.org/drawingml/2006/main">
              <a:ext uri="{FF2B5EF4-FFF2-40B4-BE49-F238E27FC236}">
                <a16:creationId xmlns:a16="http://schemas.microsoft.com/office/drawing/2014/main" id="{9F246653-C148-88C9-9283-2754FF39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347685"/>
            <a:ext cx="3568700" cy="6843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500" b="1">
                <a:solidFill>
                  <a:srgbClr val="175CD4"/>
                </a:solidFill>
              </a:defRPr>
            </a:pPr>
            <a:r>
              <a:rPr sz="1500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IDENTIDAD</a:t>
            </a:r>
          </a:p>
        </p:txBody>
      </p:sp>
      <p:sp>
        <p:nvSpPr>
          <p:cNvPr id="67" name="Google Shape;559;p61">
            <a:extLst xmlns:a="http://schemas.openxmlformats.org/drawingml/2006/main">
              <a:ext uri="{FF2B5EF4-FFF2-40B4-BE49-F238E27FC236}">
                <a16:creationId xmlns:a16="http://schemas.microsoft.com/office/drawing/2014/main" id="{CBD7303B-5E68-9B10-FF89-8C5EE8EB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347685"/>
            <a:ext cx="3568700" cy="6761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500" b="1">
                <a:solidFill>
                  <a:srgbClr val="175CD4"/>
                </a:solidFill>
              </a:defRPr>
            </a:pPr>
            <a:r>
              <a:rPr sz="1500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EVIDENCIA</a:t>
            </a:r>
          </a:p>
        </p:txBody>
      </p:sp>
      <p:sp>
        <p:nvSpPr>
          <p:cNvPr id="68" name="Google Shape;560;p61">
            <a:extLst xmlns:a="http://schemas.openxmlformats.org/drawingml/2006/main">
              <a:ext uri="{FF2B5EF4-FFF2-40B4-BE49-F238E27FC236}">
                <a16:creationId xmlns:a16="http://schemas.microsoft.com/office/drawing/2014/main" id="{C5E2B8D5-C4EB-431F-AF0C-121F9CD7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73" y="1347685"/>
            <a:ext cx="3568700" cy="6761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500" b="1">
                <a:solidFill>
                  <a:srgbClr val="175CD4"/>
                </a:solidFill>
              </a:defRPr>
            </a:pPr>
            <a:r>
              <a:rPr sz="1500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CONTROL TRANSVERSAL</a:t>
            </a:r>
          </a:p>
        </p:txBody>
      </p:sp>
      <p:cxnSp>
        <p:nvCxnSpPr>
          <p:cNvPr id="91" name=""/>
          <p:cNvCxnSpPr>
            <a:stCxn xmlns:a="http://schemas.openxmlformats.org/drawingml/2006/main" id="20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3962400" y="3189965"/>
            <a:ext cx="346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E91A8"/>
            </a:solidFill>
            <a:prstDash val="solid"/>
            <a:tailEnd type="triangle" w="sm" len="sm"/>
          </a:ln>
        </p:spPr>
      </p:cxnSp>
      <p:cxnSp>
        <p:nvCxnSpPr>
          <p:cNvPr id="92" name=""/>
          <p:cNvCxnSpPr>
            <a:stCxn xmlns:a="http://schemas.openxmlformats.org/drawingml/2006/main" id="20" idx="2"/>
            <a:endCxn xmlns:a="http://schemas.openxmlformats.org/drawingml/2006/main" id="57" idx="0"/>
          </p:cNvCxnSpPr>
          <p:nvPr/>
        </p:nvCxnSpPr>
        <p:spPr>
          <a:xfrm xmlns:a="http://schemas.openxmlformats.org/drawingml/2006/main">
            <a:off x="2178050" y="3987542"/>
            <a:ext cx="0" cy="36855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E91A8"/>
            </a:solidFill>
            <a:prstDash val="solid"/>
            <a:tailEnd type="triangle" w="sm" len="sm"/>
          </a:ln>
        </p:spPr>
      </p:cxnSp>
      <p:cxnSp>
        <p:nvCxnSpPr>
          <p:cNvPr id="93" name=""/>
          <p:cNvCxnSpPr>
            <a:stCxn xmlns:a="http://schemas.openxmlformats.org/drawingml/2006/main" id="57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>
            <a:off x="3962400" y="5153677"/>
            <a:ext cx="346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E91A8"/>
            </a:solidFill>
            <a:prstDash val="solid"/>
            <a:tailEnd type="triangle" w="sm" len="sm"/>
          </a:ln>
        </p:spPr>
      </p:cxnSp>
      <p:cxnSp>
        <p:nvCxnSpPr>
          <p:cNvPr id="94" name=""/>
          <p:cNvCxnSpPr>
            <a:stCxn xmlns:a="http://schemas.openxmlformats.org/drawingml/2006/main" id="59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>
            <a:off x="7877175" y="5153677"/>
            <a:ext cx="360363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E91A8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67841331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8D39B68E-326B-DDEB-2069-B8BB0D01F0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9448800" cy="1047491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8284F"/>
                </a:solidFill>
              </a:defRPr>
            </a:pPr>
            <a:r>
              <a:rPr sz="3600" b="1">
                <a:solidFill>
                  <a:srgbClr val="08284F"/>
                </a:solidFill>
              </a:rPr>
              <a:t>Evidencia técnica del piloto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29B30B4D-AB5C-65DB-5658-753508EB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074698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8F23094-2741-BF93-9618-593A39D4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52" y="3294588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defRPr sz="3750" b="1">
                <a:solidFill>
                  <a:srgbClr val="08284F"/>
                </a:solidFill>
              </a:defRPr>
            </a:pPr>
            <a:r>
              <a:rPr sz="3750" b="1" u="none" cap="none" spc="0">
                <a:ln>
                  <a:noFill/>
                </a:ln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98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63831D1-6AB6-9FDC-DF3D-910C1C60EA7D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97670" y="4782848"/>
            <a:ext cx="2066698" cy="615950"/>
          </a:xfrm>
        </p:spPr>
        <p:txBody>
          <a:bodyPr xmlns:a="http://schemas.openxmlformats.org/drawingml/2006/main">
            <a:normAutofit fontScale="70557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725" b="1">
                <a:solidFill>
                  <a:srgbClr val="3D536B"/>
                </a:solidFill>
              </a:defRPr>
            </a:pPr>
            <a:r>
              <a:rPr sz="1725" b="1">
                <a:solidFill>
                  <a:srgbClr val="3D536B"/>
                </a:solidFill>
                <a:latin typeface="Helvetica Neue"/>
                <a:ea typeface="Helvetica Neue"/>
                <a:cs typeface="Helvetica Neue"/>
              </a:rPr>
              <a:t>Pruebas automatizadas</a:t>
            </a:r>
            <a:endParaRPr sz="14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725" b="1">
                <a:solidFill>
                  <a:srgbClr val="3D536B"/>
                </a:solidFill>
              </a:defRPr>
            </a:pPr>
            <a:r>
              <a:rPr sz="1725" b="1">
                <a:solidFill>
                  <a:srgbClr val="3D536B"/>
                </a:solidFill>
                <a:latin typeface="Helvetica Neue"/>
                <a:ea typeface="Helvetica Neue"/>
                <a:cs typeface="Helvetica Neue"/>
              </a:rPr>
              <a:t>aprobadas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4" name="Rounded Rectangle 33">
            <a:extLst xmlns:a="http://schemas.openxmlformats.org/drawingml/2006/main">
              <a:ext uri="{FF2B5EF4-FFF2-40B4-BE49-F238E27FC236}">
                <a16:creationId xmlns:a16="http://schemas.microsoft.com/office/drawing/2014/main" id="{D0C74EF0-61EA-0AD2-19B0-75CAAA4B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5905" y="3074698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6130B530-1157-40A3-0161-21ADDD16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257" y="3294588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defRPr sz="3750" b="1">
                <a:solidFill>
                  <a:srgbClr val="08284F"/>
                </a:solidFill>
              </a:defRPr>
            </a:pPr>
            <a:r>
              <a:rPr sz="3750" b="1" u="none" cap="none" spc="0">
                <a:ln>
                  <a:noFill/>
                </a:ln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353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DE51176-FC24-C3CB-45B8-8EA48AFA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9875" y="4782848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5812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725" b="1">
                <a:solidFill>
                  <a:srgbClr val="3D536B"/>
                </a:solidFill>
              </a:defRPr>
            </a:pPr>
            <a:r>
              <a:rPr sz="1725" b="1">
                <a:solidFill>
                  <a:srgbClr val="3D536B"/>
                </a:solidFill>
                <a:latin typeface="Helvetica Neue"/>
                <a:ea typeface="Helvetica Neue"/>
                <a:cs typeface="Helvetica Neue"/>
              </a:rPr>
              <a:t>Archivos revisados</a:t>
            </a:r>
            <a:endParaRPr sz="14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725" b="1">
                <a:solidFill>
                  <a:srgbClr val="3D536B"/>
                </a:solidFill>
              </a:defRPr>
            </a:pPr>
            <a:r>
              <a:rPr sz="1725" b="1">
                <a:solidFill>
                  <a:srgbClr val="3D536B"/>
                </a:solidFill>
                <a:latin typeface="Helvetica Neue"/>
                <a:ea typeface="Helvetica Neue"/>
                <a:cs typeface="Helvetica Neue"/>
              </a:rPr>
              <a:t>por seguridad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B5992B1D-5E0E-664C-375F-216AFC12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986" y="3074698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4A023A6-B45F-0FFE-0391-DBB43543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38" y="3294588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defRPr sz="3750" b="1">
                <a:solidFill>
                  <a:srgbClr val="08284F"/>
                </a:solidFill>
              </a:defRPr>
            </a:pPr>
            <a:r>
              <a:rPr sz="3750" b="1" u="none" cap="none" spc="0">
                <a:ln>
                  <a:noFill/>
                </a:ln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20/20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E890D67-9D53-7808-5E55-E05F9230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56" y="4782848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5812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725" b="1">
                <a:solidFill>
                  <a:srgbClr val="3D536B"/>
                </a:solidFill>
              </a:defRPr>
            </a:pPr>
            <a:r>
              <a:rPr sz="1725" b="1">
                <a:solidFill>
                  <a:srgbClr val="3D536B"/>
                </a:solidFill>
                <a:latin typeface="Helvetica Neue"/>
                <a:ea typeface="Helvetica Neue"/>
                <a:cs typeface="Helvetica Neue"/>
              </a:rPr>
              <a:t>Solicitudes HTTP</a:t>
            </a:r>
            <a:endParaRPr sz="14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725" b="1">
                <a:solidFill>
                  <a:srgbClr val="3D536B"/>
                </a:solidFill>
              </a:defRPr>
            </a:pPr>
            <a:r>
              <a:rPr sz="1725" b="1">
                <a:solidFill>
                  <a:srgbClr val="3D536B"/>
                </a:solidFill>
                <a:latin typeface="Helvetica Neue"/>
                <a:ea typeface="Helvetica Neue"/>
                <a:cs typeface="Helvetica Neue"/>
              </a:rPr>
              <a:t>exitosas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DEE6595D-2709-1F7C-8B9A-47164A9A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191" y="3074698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0DD8DA38-D646-1FA9-28D4-71AFE0F8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43" y="3294588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defRPr sz="3750" b="1">
                <a:solidFill>
                  <a:srgbClr val="08284F"/>
                </a:solidFill>
              </a:defRPr>
            </a:pPr>
            <a:r>
              <a:rPr sz="3750" b="1" u="none" cap="none" spc="0">
                <a:ln>
                  <a:noFill/>
                </a:ln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95 ms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D7CE5C2-7A4C-5B39-AEB6-25510E71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61" y="4782848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5812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725" b="1">
                <a:solidFill>
                  <a:srgbClr val="3D536B"/>
                </a:solidFill>
              </a:defRPr>
            </a:pPr>
            <a:r>
              <a:rPr sz="1725" b="1">
                <a:solidFill>
                  <a:srgbClr val="3D536B"/>
                </a:solidFill>
                <a:latin typeface="Helvetica Neue"/>
                <a:ea typeface="Helvetica Neue"/>
                <a:cs typeface="Helvetica Neue"/>
              </a:rPr>
              <a:t>Percentil p95</a:t>
            </a:r>
            <a:endParaRPr sz="14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725" b="1">
                <a:solidFill>
                  <a:srgbClr val="3D536B"/>
                </a:solidFill>
              </a:defRPr>
            </a:pPr>
            <a:r>
              <a:rPr sz="1725" b="1">
                <a:solidFill>
                  <a:srgbClr val="3D536B"/>
                </a:solidFill>
                <a:latin typeface="Helvetica Neue"/>
                <a:ea typeface="Helvetica Neue"/>
                <a:cs typeface="Helvetica Neue"/>
              </a:rPr>
              <a:t>en entorno local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1B19CD8-2634-6048-888D-54374B2A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427" y="1938897"/>
            <a:ext cx="5539873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400" b="1">
                <a:solidFill>
                  <a:srgbClr val="175CD4"/>
                </a:solidFill>
              </a:rPr>
              <a:t>RENDIMIENTO LOCAL</a:t>
            </a:r>
          </a:p>
          <a:p xmlns:a="http://schemas.openxmlformats.org/drawingml/2006/main">
            <a:r>
              <a:rPr sz="1700">
                <a:solidFill>
                  <a:srgbClr val="3D536B"/>
                </a:solidFill>
              </a:rPr>
              <a:t>La medición es una línea base técnica. No representa un SLA corporativo.</a:t>
            </a:r>
          </a:p>
        </p:txBody>
      </p:sp>
      <p:sp>
        <p:nvSpPr>
          <p:cNvPr id="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5713544-9BEE-5C18-38B2-3D7DD243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27" y="1938897"/>
            <a:ext cx="5539873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400" b="1">
                <a:solidFill>
                  <a:srgbClr val="175CD4"/>
                </a:solidFill>
              </a:rPr>
              <a:t>CALIDAD AUTOMATIZADA</a:t>
            </a:r>
          </a:p>
          <a:p xmlns:a="http://schemas.openxmlformats.org/drawingml/2006/main">
            <a:r>
              <a:rPr sz="1700">
                <a:solidFill>
                  <a:srgbClr val="3D536B"/>
                </a:solidFill>
              </a:rPr>
              <a:t>CI, lint, tipos, migraciones e identidad visual están en verde.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FBBC9C7-9694-DE21-B364-07358EFB8B1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E91A8"/>
                </a:solidFill>
              </a:defRPr>
            </a:pPr>
            <a:r>
              <a:rPr sz="1050">
                <a:solidFill>
                  <a:srgbClr val="7E91A8"/>
                </a:solidFill>
              </a:rPr>
              <a:t>TalentIA · piloto técnico</a:t>
            </a:r>
            <a:endParaRPr sz="1100"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D07332E9-E6BC-DD47-F254-482EEDAF581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/>
            </a:pPr>
            <a:fld id="{EFD6AB9A-5F9E-5F59-51AB-3C8734130965}" type="slidenum">
              <a:rPr sz="1050"/>
              <a:t>4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4134999073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C3666"/>
            </a:gs>
            <a:gs pos="100000">
              <a:srgbClr val="061C39"/>
            </a:gs>
          </a:gsLst>
          <a:lin ang="135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16E6E18-DCB5-27BF-4701-D93C82ECBFD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84537" y="1681498"/>
            <a:ext cx="9448800" cy="2491490"/>
          </a:xfrm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</a:pPr>
            <a:r>
              <a:rPr sz="5800" b="1">
                <a:solidFill>
                  <a:srgbClr val="EDF5FE"/>
                </a:solidFill>
              </a:rPr>
              <a:t>Listo para
</a:t>
            </a:r>
            <a:r>
              <a:rPr sz="4800" b="1">
                <a:solidFill>
                  <a:srgbClr val="00ABFF"/>
                </a:solidFill>
              </a:rPr>
              <a:t>validación con RR. HH.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9DF85E7E-4696-758B-00CF-3C8AE6DE933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5346700"/>
            <a:ext cx="3568700" cy="706865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AFC4DA"/>
                </a:solidFill>
              </a:rPr>
              <a:t>Próximo hito</a:t>
            </a:r>
          </a:p>
          <a:p xmlns:a="http://schemas.openxmlformats.org/drawingml/2006/main">
            <a:r>
              <a:rPr sz="1800" b="1">
                <a:solidFill>
                  <a:srgbClr val="EDF5FE"/>
                </a:solidFill>
              </a:rPr>
              <a:t>UAT firmada y decisiones TCS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9C23E257-E836-DD5D-F7F1-70302542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55372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800" b="1">
                <a:solidFill>
                  <a:srgbClr val="AFC4DA"/>
                </a:solidFill>
              </a:defRPr>
            </a:pPr>
            <a:r>
              <a:rPr sz="1800" b="1" i="0" u="none" cap="none" spc="0">
                <a:ln>
                  <a:noFill/>
                </a:ln>
                <a:solidFill>
                  <a:srgbClr val="AFC4DA"/>
                </a:solidFill>
                <a:latin typeface="Helvetica Neue"/>
                <a:ea typeface="Helvetica Neue"/>
                <a:cs typeface="Helvetica Neue"/>
              </a:rPr>
              <a:t>TalentIA · PILOTO TÉCNICO</a:t>
            </a:r>
          </a:p>
        </p:txBody>
      </p:sp>
    </p:spTree>
    <p:extLst>
      <p:ext uri="{BB962C8B-B14F-4D97-AF65-F5344CB8AC3E}">
        <p14:creationId xmlns:p14="http://schemas.microsoft.com/office/powerpoint/2010/main" val="3206328494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2026-09-14T15:29:51.3310000Z</dcterms:created>
  <dcterms:modified xsi:type="dcterms:W3CDTF">2026-09-14T15:29:51.3310000Z</dcterms:modified>
</coreProperties>
</file>